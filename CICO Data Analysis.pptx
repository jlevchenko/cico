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56" r:id="rId2"/>
    <p:sldId id="257" r:id="rId3"/>
    <p:sldId id="258" r:id="rId4"/>
    <p:sldId id="268" r:id="rId5"/>
    <p:sldId id="260" r:id="rId6"/>
    <p:sldId id="261" r:id="rId7"/>
    <p:sldId id="262" r:id="rId8"/>
    <p:sldId id="263" r:id="rId9"/>
    <p:sldId id="269"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9058E1-4241-3543-962A-61D949B575BC}" v="8" dt="2025-11-10T22:04:16.857"/>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05"/>
    <p:restoredTop sz="77860"/>
  </p:normalViewPr>
  <p:slideViewPr>
    <p:cSldViewPr snapToGrid="0">
      <p:cViewPr varScale="1">
        <p:scale>
          <a:sx n="99" d="100"/>
          <a:sy n="99" d="100"/>
        </p:scale>
        <p:origin x="8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ana Levchenko" userId="34951729785_tp_box_2" providerId="OAuth2" clId="{03E2E7AB-E468-5FDF-A5AF-D851DC2CA33D}"/>
    <pc:docChg chg="undo custSel addSld delSld modSld">
      <pc:chgData name="Juliana Levchenko" userId="34951729785_tp_box_2" providerId="OAuth2" clId="{03E2E7AB-E468-5FDF-A5AF-D851DC2CA33D}" dt="2025-11-11T19:30:07.072" v="494" actId="2696"/>
      <pc:docMkLst>
        <pc:docMk/>
      </pc:docMkLst>
      <pc:sldChg chg="add del modNotesTx">
        <pc:chgData name="Juliana Levchenko" userId="34951729785_tp_box_2" providerId="OAuth2" clId="{03E2E7AB-E468-5FDF-A5AF-D851DC2CA33D}" dt="2025-11-11T19:30:07.072" v="494" actId="2696"/>
        <pc:sldMkLst>
          <pc:docMk/>
          <pc:sldMk cId="3279058699" sldId="256"/>
        </pc:sldMkLst>
      </pc:sldChg>
      <pc:sldChg chg="addSp modSp add del mod modNotesTx">
        <pc:chgData name="Juliana Levchenko" userId="34951729785_tp_box_2" providerId="OAuth2" clId="{03E2E7AB-E468-5FDF-A5AF-D851DC2CA33D}" dt="2025-11-11T19:30:05.986" v="493" actId="2696"/>
        <pc:sldMkLst>
          <pc:docMk/>
          <pc:sldMk cId="125750156" sldId="257"/>
        </pc:sldMkLst>
      </pc:sldChg>
      <pc:sldChg chg="addSp modSp mod modNotesTx">
        <pc:chgData name="Juliana Levchenko" userId="34951729785_tp_box_2" providerId="OAuth2" clId="{03E2E7AB-E468-5FDF-A5AF-D851DC2CA33D}" dt="2025-11-05T21:14:48.982" v="182" actId="20577"/>
        <pc:sldMkLst>
          <pc:docMk/>
          <pc:sldMk cId="2143735458" sldId="258"/>
        </pc:sldMkLst>
        <pc:spChg chg="mod">
          <ac:chgData name="Juliana Levchenko" userId="34951729785_tp_box_2" providerId="OAuth2" clId="{03E2E7AB-E468-5FDF-A5AF-D851DC2CA33D}" dt="2025-11-05T20:59:09.524" v="79" actId="113"/>
          <ac:spMkLst>
            <pc:docMk/>
            <pc:sldMk cId="2143735458" sldId="258"/>
            <ac:spMk id="17" creationId="{E2BBF978-69F5-77F7-4A95-840C8D261362}"/>
          </ac:spMkLst>
        </pc:spChg>
      </pc:sldChg>
      <pc:sldChg chg="modSp mod modNotesTx">
        <pc:chgData name="Juliana Levchenko" userId="34951729785_tp_box_2" providerId="OAuth2" clId="{03E2E7AB-E468-5FDF-A5AF-D851DC2CA33D}" dt="2025-11-05T21:16:32.428" v="263" actId="20577"/>
        <pc:sldMkLst>
          <pc:docMk/>
          <pc:sldMk cId="3904297664" sldId="260"/>
        </pc:sldMkLst>
        <pc:spChg chg="mod">
          <ac:chgData name="Juliana Levchenko" userId="34951729785_tp_box_2" providerId="OAuth2" clId="{03E2E7AB-E468-5FDF-A5AF-D851DC2CA33D}" dt="2025-11-05T21:00:49.397" v="144" actId="20577"/>
          <ac:spMkLst>
            <pc:docMk/>
            <pc:sldMk cId="3904297664" sldId="260"/>
            <ac:spMk id="9" creationId="{DC11405E-819C-6FEA-D2E1-2D9EFB632E7D}"/>
          </ac:spMkLst>
        </pc:spChg>
      </pc:sldChg>
      <pc:sldChg chg="modNotesTx">
        <pc:chgData name="Juliana Levchenko" userId="34951729785_tp_box_2" providerId="OAuth2" clId="{03E2E7AB-E468-5FDF-A5AF-D851DC2CA33D}" dt="2025-11-05T21:17:13.423" v="283" actId="20577"/>
        <pc:sldMkLst>
          <pc:docMk/>
          <pc:sldMk cId="1537875117" sldId="261"/>
        </pc:sldMkLst>
      </pc:sldChg>
      <pc:sldChg chg="modSp mod">
        <pc:chgData name="Juliana Levchenko" userId="34951729785_tp_box_2" providerId="OAuth2" clId="{03E2E7AB-E468-5FDF-A5AF-D851DC2CA33D}" dt="2025-11-05T20:49:23.897" v="47" actId="27636"/>
        <pc:sldMkLst>
          <pc:docMk/>
          <pc:sldMk cId="1280934087" sldId="262"/>
        </pc:sldMkLst>
        <pc:spChg chg="mod">
          <ac:chgData name="Juliana Levchenko" userId="34951729785_tp_box_2" providerId="OAuth2" clId="{03E2E7AB-E468-5FDF-A5AF-D851DC2CA33D}" dt="2025-11-05T20:49:23.897" v="47" actId="27636"/>
          <ac:spMkLst>
            <pc:docMk/>
            <pc:sldMk cId="1280934087" sldId="262"/>
            <ac:spMk id="3" creationId="{E6FF1D1A-2E19-255C-AE39-EB1232644A54}"/>
          </ac:spMkLst>
        </pc:spChg>
      </pc:sldChg>
      <pc:sldChg chg="modNotesTx">
        <pc:chgData name="Juliana Levchenko" userId="34951729785_tp_box_2" providerId="OAuth2" clId="{03E2E7AB-E468-5FDF-A5AF-D851DC2CA33D}" dt="2025-11-05T21:18:22.924" v="299" actId="20577"/>
        <pc:sldMkLst>
          <pc:docMk/>
          <pc:sldMk cId="3185106849" sldId="263"/>
        </pc:sldMkLst>
      </pc:sldChg>
      <pc:sldChg chg="addSp delSp mod modNotesTx">
        <pc:chgData name="Juliana Levchenko" userId="34951729785_tp_box_2" providerId="OAuth2" clId="{03E2E7AB-E468-5FDF-A5AF-D851DC2CA33D}" dt="2025-11-10T22:07:22.497" v="490" actId="22"/>
        <pc:sldMkLst>
          <pc:docMk/>
          <pc:sldMk cId="3141498164" sldId="265"/>
        </pc:sldMkLst>
        <pc:spChg chg="add del">
          <ac:chgData name="Juliana Levchenko" userId="34951729785_tp_box_2" providerId="OAuth2" clId="{03E2E7AB-E468-5FDF-A5AF-D851DC2CA33D}" dt="2025-11-10T22:07:22.497" v="490" actId="22"/>
          <ac:spMkLst>
            <pc:docMk/>
            <pc:sldMk cId="3141498164" sldId="265"/>
            <ac:spMk id="4" creationId="{F9E19F48-1D2A-8F25-403C-6656F34D3AFA}"/>
          </ac:spMkLst>
        </pc:spChg>
      </pc:sldChg>
      <pc:sldChg chg="modNotesTx">
        <pc:chgData name="Juliana Levchenko" userId="34951729785_tp_box_2" providerId="OAuth2" clId="{03E2E7AB-E468-5FDF-A5AF-D851DC2CA33D}" dt="2025-11-05T21:20:06.674" v="308" actId="20577"/>
        <pc:sldMkLst>
          <pc:docMk/>
          <pc:sldMk cId="4284256667" sldId="266"/>
        </pc:sldMkLst>
      </pc:sldChg>
      <pc:sldChg chg="modNotesTx">
        <pc:chgData name="Juliana Levchenko" userId="34951729785_tp_box_2" providerId="OAuth2" clId="{03E2E7AB-E468-5FDF-A5AF-D851DC2CA33D}" dt="2025-11-05T21:23:04.188" v="328" actId="20577"/>
        <pc:sldMkLst>
          <pc:docMk/>
          <pc:sldMk cId="1739597038" sldId="267"/>
        </pc:sldMkLst>
      </pc:sldChg>
      <pc:sldChg chg="addSp delSp modSp new mod setBg">
        <pc:chgData name="Juliana Levchenko" userId="34951729785_tp_box_2" providerId="OAuth2" clId="{03E2E7AB-E468-5FDF-A5AF-D851DC2CA33D}" dt="2025-11-05T21:00:11.668" v="127" actId="12"/>
        <pc:sldMkLst>
          <pc:docMk/>
          <pc:sldMk cId="3155303993" sldId="268"/>
        </pc:sldMkLst>
        <pc:spChg chg="mod">
          <ac:chgData name="Juliana Levchenko" userId="34951729785_tp_box_2" providerId="OAuth2" clId="{03E2E7AB-E468-5FDF-A5AF-D851DC2CA33D}" dt="2025-11-05T20:45:47.014" v="22" actId="20577"/>
          <ac:spMkLst>
            <pc:docMk/>
            <pc:sldMk cId="3155303993" sldId="268"/>
            <ac:spMk id="2" creationId="{69EB8052-5348-B031-4FF1-E1CB15A3C8F8}"/>
          </ac:spMkLst>
        </pc:spChg>
        <pc:spChg chg="add del mod">
          <ac:chgData name="Juliana Levchenko" userId="34951729785_tp_box_2" providerId="OAuth2" clId="{03E2E7AB-E468-5FDF-A5AF-D851DC2CA33D}" dt="2025-11-05T21:00:11.668" v="127" actId="12"/>
          <ac:spMkLst>
            <pc:docMk/>
            <pc:sldMk cId="3155303993" sldId="268"/>
            <ac:spMk id="3" creationId="{F9F91AB2-C7CF-595C-4F95-5254395AB273}"/>
          </ac:spMkLst>
        </pc:spChg>
        <pc:spChg chg="add">
          <ac:chgData name="Juliana Levchenko" userId="34951729785_tp_box_2" providerId="OAuth2" clId="{03E2E7AB-E468-5FDF-A5AF-D851DC2CA33D}" dt="2025-11-05T20:45:14.427" v="1" actId="26606"/>
          <ac:spMkLst>
            <pc:docMk/>
            <pc:sldMk cId="3155303993" sldId="268"/>
            <ac:spMk id="8" creationId="{100EDD19-6802-4EC3-95CE-CFFAB042CFD6}"/>
          </ac:spMkLst>
        </pc:spChg>
        <pc:spChg chg="add">
          <ac:chgData name="Juliana Levchenko" userId="34951729785_tp_box_2" providerId="OAuth2" clId="{03E2E7AB-E468-5FDF-A5AF-D851DC2CA33D}" dt="2025-11-05T20:45:14.427" v="1" actId="26606"/>
          <ac:spMkLst>
            <pc:docMk/>
            <pc:sldMk cId="3155303993" sldId="268"/>
            <ac:spMk id="10" creationId="{DB17E863-922E-4C26-BD64-E8FD41D28661}"/>
          </ac:spMkLst>
        </pc:spChg>
      </pc:sldChg>
      <pc:sldChg chg="addSp delSp modSp new mod setBg modNotesTx">
        <pc:chgData name="Juliana Levchenko" userId="34951729785_tp_box_2" providerId="OAuth2" clId="{03E2E7AB-E468-5FDF-A5AF-D851DC2CA33D}" dt="2025-11-10T22:05:10.858" v="488" actId="20577"/>
        <pc:sldMkLst>
          <pc:docMk/>
          <pc:sldMk cId="1568585455" sldId="269"/>
        </pc:sldMkLst>
        <pc:spChg chg="mod">
          <ac:chgData name="Juliana Levchenko" userId="34951729785_tp_box_2" providerId="OAuth2" clId="{03E2E7AB-E468-5FDF-A5AF-D851DC2CA33D}" dt="2025-11-10T21:59:37.864" v="345" actId="255"/>
          <ac:spMkLst>
            <pc:docMk/>
            <pc:sldMk cId="1568585455" sldId="269"/>
            <ac:spMk id="2" creationId="{7372F0B3-7031-93CE-31A0-54315665EA3C}"/>
          </ac:spMkLst>
        </pc:spChg>
        <pc:spChg chg="del mod">
          <ac:chgData name="Juliana Levchenko" userId="34951729785_tp_box_2" providerId="OAuth2" clId="{03E2E7AB-E468-5FDF-A5AF-D851DC2CA33D}" dt="2025-11-10T21:56:51.575" v="331"/>
          <ac:spMkLst>
            <pc:docMk/>
            <pc:sldMk cId="1568585455" sldId="269"/>
            <ac:spMk id="3" creationId="{0C6F11AE-4B8C-59EB-480F-881CC4A663CE}"/>
          </ac:spMkLst>
        </pc:spChg>
        <pc:spChg chg="add mod">
          <ac:chgData name="Juliana Levchenko" userId="34951729785_tp_box_2" providerId="OAuth2" clId="{03E2E7AB-E468-5FDF-A5AF-D851DC2CA33D}" dt="2025-11-10T21:59:31.220" v="342"/>
          <ac:spMkLst>
            <pc:docMk/>
            <pc:sldMk cId="1568585455" sldId="269"/>
            <ac:spMk id="6" creationId="{30D32669-BE84-4BB0-34B7-9CF12FEAADDA}"/>
          </ac:spMkLst>
        </pc:spChg>
        <pc:spChg chg="add del">
          <ac:chgData name="Juliana Levchenko" userId="34951729785_tp_box_2" providerId="OAuth2" clId="{03E2E7AB-E468-5FDF-A5AF-D851DC2CA33D}" dt="2025-11-10T21:56:56.015" v="332" actId="26606"/>
          <ac:spMkLst>
            <pc:docMk/>
            <pc:sldMk cId="1568585455" sldId="269"/>
            <ac:spMk id="8" creationId="{100EDD19-6802-4EC3-95CE-CFFAB042CFD6}"/>
          </ac:spMkLst>
        </pc:spChg>
        <pc:spChg chg="add del">
          <ac:chgData name="Juliana Levchenko" userId="34951729785_tp_box_2" providerId="OAuth2" clId="{03E2E7AB-E468-5FDF-A5AF-D851DC2CA33D}" dt="2025-11-10T21:56:56.015" v="332" actId="26606"/>
          <ac:spMkLst>
            <pc:docMk/>
            <pc:sldMk cId="1568585455" sldId="269"/>
            <ac:spMk id="10" creationId="{DB17E863-922E-4C26-BD64-E8FD41D28661}"/>
          </ac:spMkLst>
        </pc:spChg>
        <pc:spChg chg="add del mod">
          <ac:chgData name="Juliana Levchenko" userId="34951729785_tp_box_2" providerId="OAuth2" clId="{03E2E7AB-E468-5FDF-A5AF-D851DC2CA33D}" dt="2025-11-10T22:03:03.374" v="482" actId="20577"/>
          <ac:spMkLst>
            <pc:docMk/>
            <pc:sldMk cId="1568585455" sldId="269"/>
            <ac:spMk id="14" creationId="{19234C49-EDD2-BDD9-FADB-90F31302B94C}"/>
          </ac:spMkLst>
        </pc:spChg>
        <pc:spChg chg="add">
          <ac:chgData name="Juliana Levchenko" userId="34951729785_tp_box_2" providerId="OAuth2" clId="{03E2E7AB-E468-5FDF-A5AF-D851DC2CA33D}" dt="2025-11-10T21:56:56.015" v="332" actId="26606"/>
          <ac:spMkLst>
            <pc:docMk/>
            <pc:sldMk cId="1568585455" sldId="269"/>
            <ac:spMk id="17" creationId="{2B97F24A-32CE-4C1C-A50D-3016B394DCFB}"/>
          </ac:spMkLst>
        </pc:spChg>
        <pc:spChg chg="add">
          <ac:chgData name="Juliana Levchenko" userId="34951729785_tp_box_2" providerId="OAuth2" clId="{03E2E7AB-E468-5FDF-A5AF-D851DC2CA33D}" dt="2025-11-10T21:56:56.015" v="332" actId="26606"/>
          <ac:spMkLst>
            <pc:docMk/>
            <pc:sldMk cId="1568585455" sldId="269"/>
            <ac:spMk id="19" creationId="{CD8B4F24-440B-49E9-B85D-733523DC064B}"/>
          </ac:spMkLst>
        </pc:spChg>
        <pc:picChg chg="add mod">
          <ac:chgData name="Juliana Levchenko" userId="34951729785_tp_box_2" providerId="OAuth2" clId="{03E2E7AB-E468-5FDF-A5AF-D851DC2CA33D}" dt="2025-11-10T21:56:57.223" v="334" actId="962"/>
          <ac:picMkLst>
            <pc:docMk/>
            <pc:sldMk cId="1568585455" sldId="269"/>
            <ac:picMk id="5" creationId="{5FCBB89B-6D4C-1317-F9B3-2F6DC3DBDA9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2FBAD6-A472-F24F-90FD-DFB7E026FE83}" type="datetimeFigureOut">
              <a:rPr lang="en-US" smtClean="0"/>
              <a:t>11/10/25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BF972E-FD78-3440-8065-2508FFAF04F6}" type="slidenum">
              <a:rPr lang="en-US" smtClean="0"/>
              <a:t>‹#›</a:t>
            </a:fld>
            <a:endParaRPr lang="en-US"/>
          </a:p>
        </p:txBody>
      </p:sp>
    </p:spTree>
    <p:extLst>
      <p:ext uri="{BB962C8B-B14F-4D97-AF65-F5344CB8AC3E}">
        <p14:creationId xmlns:p14="http://schemas.microsoft.com/office/powerpoint/2010/main" val="1947961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Hi everyone, thanks for being here. Today I’ll be sharing the latest results from our ongoing analysis of the Check-In/Check-Out, or CICO, intervention.</a:t>
            </a:r>
            <a:br>
              <a:rPr lang="en-US" dirty="0"/>
            </a:br>
            <a:r>
              <a:rPr lang="en-US" dirty="0"/>
              <a:t>This analysis looks at student outcomes collected between 2021 and 2025 and focuses on two types of data. The first is direct observation data, which captures what students are doing in the classroom. The second is teacher-rated data from the BASC-3, which reflects broader behavioral and emotional functioning.</a:t>
            </a:r>
            <a:br>
              <a:rPr lang="en-US" dirty="0"/>
            </a:br>
            <a:r>
              <a:rPr lang="en-US" dirty="0"/>
              <a:t>These results inform both our upcoming manuscripts and how we support schools that implement CICO.</a:t>
            </a:r>
          </a:p>
        </p:txBody>
      </p:sp>
      <p:sp>
        <p:nvSpPr>
          <p:cNvPr id="4" name="Slide Number Placeholder 3"/>
          <p:cNvSpPr>
            <a:spLocks noGrp="1"/>
          </p:cNvSpPr>
          <p:nvPr>
            <p:ph type="sldNum" sz="quarter" idx="5"/>
          </p:nvPr>
        </p:nvSpPr>
        <p:spPr/>
        <p:txBody>
          <a:bodyPr/>
          <a:lstStyle/>
          <a:p>
            <a:fld id="{BEBF972E-FD78-3440-8065-2508FFAF04F6}" type="slidenum">
              <a:rPr lang="en-US" smtClean="0"/>
              <a:t>1</a:t>
            </a:fld>
            <a:endParaRPr lang="en-US"/>
          </a:p>
        </p:txBody>
      </p:sp>
    </p:spTree>
    <p:extLst>
      <p:ext uri="{BB962C8B-B14F-4D97-AF65-F5344CB8AC3E}">
        <p14:creationId xmlns:p14="http://schemas.microsoft.com/office/powerpoint/2010/main" val="127744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Our goal with this evaluation was to understand how CICO influences student engagement and behavior.</a:t>
            </a:r>
            <a:br>
              <a:rPr lang="en-US" dirty="0"/>
            </a:br>
            <a:r>
              <a:rPr lang="en-US" dirty="0"/>
              <a:t>The design accounts for students nested within teachers and schools, so it uses multilevel models to properly handle that structure.</a:t>
            </a:r>
            <a:br>
              <a:rPr lang="en-US" dirty="0"/>
            </a:br>
            <a:r>
              <a:rPr lang="en-US" dirty="0"/>
              <a:t>We looked at two research questions.</a:t>
            </a:r>
            <a:br>
              <a:rPr lang="en-US" dirty="0"/>
            </a:br>
            <a:r>
              <a:rPr lang="en-US" dirty="0"/>
              <a:t>First, do students in CICO show higher on-task behavior and lower disruptive behavior over time compared to students in the business-as-usual group?</a:t>
            </a:r>
            <a:br>
              <a:rPr lang="en-US" dirty="0"/>
            </a:br>
            <a:r>
              <a:rPr lang="en-US" dirty="0"/>
              <a:t>And second, do CICO students have better posttest teacher-rated outcomes on the BASC-3 after controlling for their baseline scores?</a:t>
            </a:r>
            <a:br>
              <a:rPr lang="en-US" dirty="0"/>
            </a:br>
            <a:r>
              <a:rPr lang="en-US" dirty="0"/>
              <a:t>Together, these questions give us a clear picture of both short-term and longer-term changes.</a:t>
            </a:r>
          </a:p>
        </p:txBody>
      </p:sp>
      <p:sp>
        <p:nvSpPr>
          <p:cNvPr id="4" name="Slide Number Placeholder 3"/>
          <p:cNvSpPr>
            <a:spLocks noGrp="1"/>
          </p:cNvSpPr>
          <p:nvPr>
            <p:ph type="sldNum" sz="quarter" idx="5"/>
          </p:nvPr>
        </p:nvSpPr>
        <p:spPr/>
        <p:txBody>
          <a:bodyPr/>
          <a:lstStyle/>
          <a:p>
            <a:fld id="{BEBF972E-FD78-3440-8065-2508FFAF04F6}" type="slidenum">
              <a:rPr lang="en-US" smtClean="0"/>
              <a:t>2</a:t>
            </a:fld>
            <a:endParaRPr lang="en-US"/>
          </a:p>
        </p:txBody>
      </p:sp>
    </p:spTree>
    <p:extLst>
      <p:ext uri="{BB962C8B-B14F-4D97-AF65-F5344CB8AC3E}">
        <p14:creationId xmlns:p14="http://schemas.microsoft.com/office/powerpoint/2010/main" val="3279015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drew from two main data sources. The first is the CICO direct observation data, collected from 2021 through 2025. The second is teacher-rated BASC-3 data, collected at pretest and posttest.</a:t>
            </a:r>
            <a:br>
              <a:rPr lang="en-US" dirty="0"/>
            </a:br>
            <a:r>
              <a:rPr lang="en-US" dirty="0"/>
              <a:t>Each dataset is linked by student, teacher, and school IDs so that we can connect observations and ratings within the same classroom context.</a:t>
            </a:r>
            <a:br>
              <a:rPr lang="en-US" dirty="0"/>
            </a:br>
            <a:r>
              <a:rPr lang="en-US" dirty="0"/>
              <a:t>For outcomes, the SDO data capture percent on-task and percent disruptive, while the BASC-3 data include Externalizing, Internalizing, School Problems, and Adaptive Skills.</a:t>
            </a:r>
            <a:br>
              <a:rPr lang="en-US" dirty="0"/>
            </a:br>
            <a:r>
              <a:rPr lang="en-US" dirty="0"/>
              <a:t>One note about Adaptive Skills: that scale is reverse-coded, so higher scores mean stronger adaptive functioning. When we look at lower scores later, that doesn’t mean worse behavior. It means fewer adaptive behaviors as reported by the teacher.</a:t>
            </a:r>
          </a:p>
        </p:txBody>
      </p:sp>
      <p:sp>
        <p:nvSpPr>
          <p:cNvPr id="4" name="Slide Number Placeholder 3"/>
          <p:cNvSpPr>
            <a:spLocks noGrp="1"/>
          </p:cNvSpPr>
          <p:nvPr>
            <p:ph type="sldNum" sz="quarter" idx="5"/>
          </p:nvPr>
        </p:nvSpPr>
        <p:spPr/>
        <p:txBody>
          <a:bodyPr/>
          <a:lstStyle/>
          <a:p>
            <a:fld id="{BEBF972E-FD78-3440-8065-2508FFAF04F6}" type="slidenum">
              <a:rPr lang="en-US" smtClean="0"/>
              <a:t>3</a:t>
            </a:fld>
            <a:endParaRPr lang="en-US"/>
          </a:p>
        </p:txBody>
      </p:sp>
    </p:spTree>
    <p:extLst>
      <p:ext uri="{BB962C8B-B14F-4D97-AF65-F5344CB8AC3E}">
        <p14:creationId xmlns:p14="http://schemas.microsoft.com/office/powerpoint/2010/main" val="2220131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by cleaning and merging the multi-year data and then handled missing data using full-information maximum likelihood, which allows us to use all available data points.</a:t>
            </a:r>
            <a:br>
              <a:rPr lang="en-US" dirty="0"/>
            </a:br>
            <a:r>
              <a:rPr lang="en-US" dirty="0"/>
              <a:t>We tested for baseline equivalence and checked attrition rates before modeling.</a:t>
            </a:r>
            <a:br>
              <a:rPr lang="en-US" dirty="0"/>
            </a:br>
            <a:r>
              <a:rPr lang="en-US" dirty="0"/>
              <a:t>For the modeling itself, we used three-level growth models for the SDO data, with time nested within students and students nested within schools. For the BASC-3, we used two-level ANCOVA models with students nested within classrooms.</a:t>
            </a:r>
            <a:br>
              <a:rPr lang="en-US" dirty="0"/>
            </a:br>
            <a:r>
              <a:rPr lang="en-US" dirty="0"/>
              <a:t>We compared fixed and random school effects and found that models with fixed effects generally fit better.</a:t>
            </a:r>
            <a:br>
              <a:rPr lang="en-US" dirty="0"/>
            </a:br>
            <a:r>
              <a:rPr lang="en-US" dirty="0"/>
              <a:t>Finally, we reported adjusted means, intraclass correlations, and standardized effect sizes to make the results interpretable and comparable across measures.</a:t>
            </a:r>
          </a:p>
        </p:txBody>
      </p:sp>
      <p:sp>
        <p:nvSpPr>
          <p:cNvPr id="4" name="Slide Number Placeholder 3"/>
          <p:cNvSpPr>
            <a:spLocks noGrp="1"/>
          </p:cNvSpPr>
          <p:nvPr>
            <p:ph type="sldNum" sz="quarter" idx="5"/>
          </p:nvPr>
        </p:nvSpPr>
        <p:spPr/>
        <p:txBody>
          <a:bodyPr/>
          <a:lstStyle/>
          <a:p>
            <a:fld id="{BEBF972E-FD78-3440-8065-2508FFAF04F6}" type="slidenum">
              <a:rPr lang="en-US" smtClean="0"/>
              <a:t>4</a:t>
            </a:fld>
            <a:endParaRPr lang="en-US"/>
          </a:p>
        </p:txBody>
      </p:sp>
    </p:spTree>
    <p:extLst>
      <p:ext uri="{BB962C8B-B14F-4D97-AF65-F5344CB8AC3E}">
        <p14:creationId xmlns:p14="http://schemas.microsoft.com/office/powerpoint/2010/main" val="2294677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SDO data, we had a total of about 1,150 phase-level observations across 326 students in 24 schools.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BASC-3 data, we has 249 students across 149 classrooms.</a:t>
            </a:r>
            <a:br>
              <a:rPr lang="en-US" dirty="0"/>
            </a:br>
            <a:r>
              <a:rPr lang="en-US" dirty="0"/>
              <a:t>Attrition was slightly higher in the CICO group at about 6.8 percent, compared to less than one percent for the business-as-usual group. This difference was statistically significant, so we included an attrition covariate in the SDO models to account for that.</a:t>
            </a:r>
            <a:br>
              <a:rPr lang="en-US" dirty="0"/>
            </a:br>
            <a:r>
              <a:rPr lang="en-US" dirty="0"/>
              <a:t>For the BASC-3 data, attrition was low overall and not significantly different across conditions.</a:t>
            </a:r>
          </a:p>
        </p:txBody>
      </p:sp>
      <p:sp>
        <p:nvSpPr>
          <p:cNvPr id="4" name="Slide Number Placeholder 3"/>
          <p:cNvSpPr>
            <a:spLocks noGrp="1"/>
          </p:cNvSpPr>
          <p:nvPr>
            <p:ph type="sldNum" sz="quarter" idx="5"/>
          </p:nvPr>
        </p:nvSpPr>
        <p:spPr/>
        <p:txBody>
          <a:bodyPr/>
          <a:lstStyle/>
          <a:p>
            <a:fld id="{BEBF972E-FD78-3440-8065-2508FFAF04F6}" type="slidenum">
              <a:rPr lang="en-US" smtClean="0"/>
              <a:t>5</a:t>
            </a:fld>
            <a:endParaRPr lang="en-US"/>
          </a:p>
        </p:txBody>
      </p:sp>
    </p:spTree>
    <p:extLst>
      <p:ext uri="{BB962C8B-B14F-4D97-AF65-F5344CB8AC3E}">
        <p14:creationId xmlns:p14="http://schemas.microsoft.com/office/powerpoint/2010/main" val="4208274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the main models, we checked whether the two groups looked similar at baseline.</a:t>
            </a:r>
            <a:br>
              <a:rPr lang="en-US" dirty="0"/>
            </a:br>
            <a:r>
              <a:rPr lang="en-US" dirty="0"/>
              <a:t>The results showed that they did: CICO and BAU students had nearly identical on-task and disruptive behavior before the intervention started.</a:t>
            </a:r>
            <a:br>
              <a:rPr lang="en-US" dirty="0"/>
            </a:br>
            <a:r>
              <a:rPr lang="en-US" dirty="0"/>
              <a:t>We also calculated intraclass correlations, or ICCs, to see how much variation came from classrooms and schools.</a:t>
            </a:r>
            <a:br>
              <a:rPr lang="en-US" dirty="0"/>
            </a:br>
            <a:r>
              <a:rPr lang="en-US" dirty="0"/>
              <a:t>The ICCs were fairly high: about 0.49 for on-task and 0.60 for disruptive behavior, which tells us that a lot of the differences in behavior were related to classroom or school context. That’s why multilevel modeling is used.</a:t>
            </a:r>
          </a:p>
        </p:txBody>
      </p:sp>
      <p:sp>
        <p:nvSpPr>
          <p:cNvPr id="4" name="Slide Number Placeholder 3"/>
          <p:cNvSpPr>
            <a:spLocks noGrp="1"/>
          </p:cNvSpPr>
          <p:nvPr>
            <p:ph type="sldNum" sz="quarter" idx="5"/>
          </p:nvPr>
        </p:nvSpPr>
        <p:spPr/>
        <p:txBody>
          <a:bodyPr/>
          <a:lstStyle/>
          <a:p>
            <a:fld id="{BEBF972E-FD78-3440-8065-2508FFAF04F6}" type="slidenum">
              <a:rPr lang="en-US" smtClean="0"/>
              <a:t>6</a:t>
            </a:fld>
            <a:endParaRPr lang="en-US"/>
          </a:p>
        </p:txBody>
      </p:sp>
    </p:spTree>
    <p:extLst>
      <p:ext uri="{BB962C8B-B14F-4D97-AF65-F5344CB8AC3E}">
        <p14:creationId xmlns:p14="http://schemas.microsoft.com/office/powerpoint/2010/main" val="1253887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posttest, students in CICO were significantly more on-task and less disruptive than those in the BAU group.</a:t>
            </a:r>
            <a:br>
              <a:rPr lang="en-US" dirty="0"/>
            </a:br>
            <a:r>
              <a:rPr lang="en-US" dirty="0"/>
              <a:t>Specifically, on-task behavior increased by about 13 percentage points, and disruptive behavior decreased by about 16 points.</a:t>
            </a:r>
            <a:br>
              <a:rPr lang="en-US" dirty="0"/>
            </a:br>
            <a:r>
              <a:rPr lang="en-US" dirty="0"/>
              <a:t>The interaction between week and condition showed that CICO students improved faster over time, suggesting strong intervention effects.</a:t>
            </a:r>
            <a:br>
              <a:rPr lang="en-US" dirty="0"/>
            </a:br>
            <a:r>
              <a:rPr lang="en-US" dirty="0"/>
              <a:t>When we compared model structures, the fixed school effects provided a better fit than random effects, meaning the differences between schools were systematic and best modeled individually.</a:t>
            </a:r>
          </a:p>
        </p:txBody>
      </p:sp>
      <p:sp>
        <p:nvSpPr>
          <p:cNvPr id="4" name="Slide Number Placeholder 3"/>
          <p:cNvSpPr>
            <a:spLocks noGrp="1"/>
          </p:cNvSpPr>
          <p:nvPr>
            <p:ph type="sldNum" sz="quarter" idx="5"/>
          </p:nvPr>
        </p:nvSpPr>
        <p:spPr/>
        <p:txBody>
          <a:bodyPr/>
          <a:lstStyle/>
          <a:p>
            <a:fld id="{BEBF972E-FD78-3440-8065-2508FFAF04F6}" type="slidenum">
              <a:rPr lang="en-US" smtClean="0"/>
              <a:t>7</a:t>
            </a:fld>
            <a:endParaRPr lang="en-US"/>
          </a:p>
        </p:txBody>
      </p:sp>
    </p:spTree>
    <p:extLst>
      <p:ext uri="{BB962C8B-B14F-4D97-AF65-F5344CB8AC3E}">
        <p14:creationId xmlns:p14="http://schemas.microsoft.com/office/powerpoint/2010/main" val="4003276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you can see the standardized effect sizes for each phase.</a:t>
            </a:r>
            <a:br>
              <a:rPr lang="en-US" dirty="0"/>
            </a:br>
            <a:r>
              <a:rPr lang="en-US" dirty="0"/>
              <a:t>At baseline, the groups were similar, but by posttest, we saw moderate effects favoring CICO: about 0.26 for on-task and –0.17 for disruptive behavior.</a:t>
            </a:r>
            <a:br>
              <a:rPr lang="en-US" dirty="0"/>
            </a:br>
            <a:r>
              <a:rPr lang="en-US" dirty="0"/>
              <a:t>By the maintenance phase, the effects grew even larger, with on-task reaching 0.37 and disruptive behavior dropping to –0.25.</a:t>
            </a:r>
            <a:br>
              <a:rPr lang="en-US" dirty="0"/>
            </a:br>
            <a:r>
              <a:rPr lang="en-US" dirty="0"/>
              <a:t>This pattern shows that gains were not only maintained but strengthened over time, which suggests that students continued to use the skills they developed during CICO even after intervention ended.</a:t>
            </a:r>
          </a:p>
        </p:txBody>
      </p:sp>
      <p:sp>
        <p:nvSpPr>
          <p:cNvPr id="4" name="Slide Number Placeholder 3"/>
          <p:cNvSpPr>
            <a:spLocks noGrp="1"/>
          </p:cNvSpPr>
          <p:nvPr>
            <p:ph type="sldNum" sz="quarter" idx="5"/>
          </p:nvPr>
        </p:nvSpPr>
        <p:spPr/>
        <p:txBody>
          <a:bodyPr/>
          <a:lstStyle/>
          <a:p>
            <a:fld id="{BEBF972E-FD78-3440-8065-2508FFAF04F6}" type="slidenum">
              <a:rPr lang="en-US" smtClean="0"/>
              <a:t>8</a:t>
            </a:fld>
            <a:endParaRPr lang="en-US"/>
          </a:p>
        </p:txBody>
      </p:sp>
    </p:spTree>
    <p:extLst>
      <p:ext uri="{BB962C8B-B14F-4D97-AF65-F5344CB8AC3E}">
        <p14:creationId xmlns:p14="http://schemas.microsoft.com/office/powerpoint/2010/main" val="3576660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how student behavior changed over time for the CICO and BAU groups. </a:t>
            </a:r>
          </a:p>
          <a:p>
            <a:r>
              <a:rPr lang="en-US" dirty="0"/>
              <a:t>Students who received CICO became progressively more on-task and less disruptive across each phase, while students in the BAU group showed little or no change. </a:t>
            </a:r>
          </a:p>
          <a:p>
            <a:r>
              <a:rPr lang="en-US" dirty="0"/>
              <a:t>The two groups started out at similar levels during baseline and mid-intervention. </a:t>
            </a:r>
          </a:p>
          <a:p>
            <a:r>
              <a:rPr lang="en-US" dirty="0"/>
              <a:t>For on-task behavior, the confidence intervals begin to separate noticeably at the post phase and show no overlap during maintenance, indicating a statistically significant difference.</a:t>
            </a:r>
          </a:p>
        </p:txBody>
      </p:sp>
      <p:sp>
        <p:nvSpPr>
          <p:cNvPr id="4" name="Slide Number Placeholder 3"/>
          <p:cNvSpPr>
            <a:spLocks noGrp="1"/>
          </p:cNvSpPr>
          <p:nvPr>
            <p:ph type="sldNum" sz="quarter" idx="5"/>
          </p:nvPr>
        </p:nvSpPr>
        <p:spPr/>
        <p:txBody>
          <a:bodyPr/>
          <a:lstStyle/>
          <a:p>
            <a:fld id="{BEBF972E-FD78-3440-8065-2508FFAF04F6}" type="slidenum">
              <a:rPr lang="en-US" smtClean="0"/>
              <a:t>9</a:t>
            </a:fld>
            <a:endParaRPr lang="en-US"/>
          </a:p>
        </p:txBody>
      </p:sp>
    </p:spTree>
    <p:extLst>
      <p:ext uri="{BB962C8B-B14F-4D97-AF65-F5344CB8AC3E}">
        <p14:creationId xmlns:p14="http://schemas.microsoft.com/office/powerpoint/2010/main" val="2055562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Before running the BASC-3 models, we again checked baseline balance, attrition, and ICCs.</a:t>
            </a:r>
            <a:br>
              <a:rPr lang="en-US" dirty="0"/>
            </a:br>
            <a:r>
              <a:rPr lang="en-US" dirty="0"/>
              <a:t>The two groups were balanced at baseline across all four scales, and attrition was minimal and not different between conditions.</a:t>
            </a:r>
            <a:br>
              <a:rPr lang="en-US" dirty="0"/>
            </a:br>
            <a:r>
              <a:rPr lang="en-US" dirty="0"/>
              <a:t>ICCs ranged from about 0.3 to 0.5, which supports using multilevel modeling to account for classroom effects.</a:t>
            </a:r>
            <a:br>
              <a:rPr lang="en-US" dirty="0"/>
            </a:br>
            <a:r>
              <a:rPr lang="en-US" dirty="0"/>
              <a:t>For School Problems, the ICC was near zero, which later caused a boundary or singular warning in the model output. That warning just means there was almost no classroom-level variance to estimate, not that the model failed.</a:t>
            </a:r>
          </a:p>
          <a:p>
            <a:endParaRPr lang="en-US" dirty="0"/>
          </a:p>
        </p:txBody>
      </p:sp>
      <p:sp>
        <p:nvSpPr>
          <p:cNvPr id="4" name="Slide Number Placeholder 3"/>
          <p:cNvSpPr>
            <a:spLocks noGrp="1"/>
          </p:cNvSpPr>
          <p:nvPr>
            <p:ph type="sldNum" sz="quarter" idx="5"/>
          </p:nvPr>
        </p:nvSpPr>
        <p:spPr/>
        <p:txBody>
          <a:bodyPr/>
          <a:lstStyle/>
          <a:p>
            <a:fld id="{BEBF972E-FD78-3440-8065-2508FFAF04F6}" type="slidenum">
              <a:rPr lang="en-US" smtClean="0"/>
              <a:t>10</a:t>
            </a:fld>
            <a:endParaRPr lang="en-US"/>
          </a:p>
        </p:txBody>
      </p:sp>
    </p:spTree>
    <p:extLst>
      <p:ext uri="{BB962C8B-B14F-4D97-AF65-F5344CB8AC3E}">
        <p14:creationId xmlns:p14="http://schemas.microsoft.com/office/powerpoint/2010/main" val="1257817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controlling for baseline, CICO students had significantly lower scores on Externalizing, Internalizing, and School Problems compared to BAU students.</a:t>
            </a:r>
            <a:br>
              <a:rPr lang="en-US" dirty="0"/>
            </a:br>
            <a:r>
              <a:rPr lang="en-US" dirty="0"/>
              <a:t>Lower scores on these scales mean fewer problem behaviors and emotional difficulties.</a:t>
            </a:r>
            <a:br>
              <a:rPr lang="en-US" dirty="0"/>
            </a:br>
            <a:r>
              <a:rPr lang="en-US" dirty="0"/>
              <a:t>Effect sizes ranged from about –0.27 to –0.46, which are moderate effects for behavioral interventions.</a:t>
            </a:r>
            <a:br>
              <a:rPr lang="en-US" dirty="0"/>
            </a:br>
            <a:r>
              <a:rPr lang="en-US" dirty="0"/>
              <a:t>Adaptive Skills were also lower for CICO students, but because that scale runs in the opposite direction, this finding likely reflects how teachers rated adaptive functioning rather than a true decline. It’s something we’ll continue to look into.</a:t>
            </a:r>
          </a:p>
        </p:txBody>
      </p:sp>
      <p:sp>
        <p:nvSpPr>
          <p:cNvPr id="4" name="Slide Number Placeholder 3"/>
          <p:cNvSpPr>
            <a:spLocks noGrp="1"/>
          </p:cNvSpPr>
          <p:nvPr>
            <p:ph type="sldNum" sz="quarter" idx="5"/>
          </p:nvPr>
        </p:nvSpPr>
        <p:spPr/>
        <p:txBody>
          <a:bodyPr/>
          <a:lstStyle/>
          <a:p>
            <a:fld id="{BEBF972E-FD78-3440-8065-2508FFAF04F6}" type="slidenum">
              <a:rPr lang="en-US" smtClean="0"/>
              <a:t>11</a:t>
            </a:fld>
            <a:endParaRPr lang="en-US"/>
          </a:p>
        </p:txBody>
      </p:sp>
    </p:spTree>
    <p:extLst>
      <p:ext uri="{BB962C8B-B14F-4D97-AF65-F5344CB8AC3E}">
        <p14:creationId xmlns:p14="http://schemas.microsoft.com/office/powerpoint/2010/main" val="2410784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all BASC-3 outcomes, CICO produced significant improvements in teacher-rated behavior.</a:t>
            </a:r>
            <a:br>
              <a:rPr lang="en-US" dirty="0"/>
            </a:br>
            <a:r>
              <a:rPr lang="en-US" dirty="0"/>
              <a:t>The differences on Adaptive Skills probably reflect context or perception rather than a negative change.</a:t>
            </a:r>
            <a:br>
              <a:rPr lang="en-US" dirty="0"/>
            </a:br>
            <a:r>
              <a:rPr lang="en-US" dirty="0"/>
              <a:t>We saw boundary warnings in the School Problems model, but again, that was due to near-zero classroom variance, not an issue with the estimation.</a:t>
            </a:r>
            <a:br>
              <a:rPr lang="en-US" dirty="0"/>
            </a:br>
            <a:r>
              <a:rPr lang="en-US" dirty="0"/>
              <a:t>ICCs were moderate, confirming that the two-level model was appropriate.</a:t>
            </a:r>
          </a:p>
        </p:txBody>
      </p:sp>
      <p:sp>
        <p:nvSpPr>
          <p:cNvPr id="4" name="Slide Number Placeholder 3"/>
          <p:cNvSpPr>
            <a:spLocks noGrp="1"/>
          </p:cNvSpPr>
          <p:nvPr>
            <p:ph type="sldNum" sz="quarter" idx="5"/>
          </p:nvPr>
        </p:nvSpPr>
        <p:spPr/>
        <p:txBody>
          <a:bodyPr/>
          <a:lstStyle/>
          <a:p>
            <a:fld id="{BEBF972E-FD78-3440-8065-2508FFAF04F6}" type="slidenum">
              <a:rPr lang="en-US" smtClean="0"/>
              <a:t>12</a:t>
            </a:fld>
            <a:endParaRPr lang="en-US"/>
          </a:p>
        </p:txBody>
      </p:sp>
    </p:spTree>
    <p:extLst>
      <p:ext uri="{BB962C8B-B14F-4D97-AF65-F5344CB8AC3E}">
        <p14:creationId xmlns:p14="http://schemas.microsoft.com/office/powerpoint/2010/main" val="622306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CICO students were more on-task and less disruptive by posttest, and these improvements continued or even grew at maintenance.</a:t>
            </a:r>
            <a:br>
              <a:rPr lang="en-US" dirty="0"/>
            </a:br>
            <a:r>
              <a:rPr lang="en-US" dirty="0"/>
              <a:t>Teacher ratings confirmed reductions in problem behaviors and emotional difficulties.</a:t>
            </a:r>
            <a:br>
              <a:rPr lang="en-US" dirty="0"/>
            </a:br>
            <a:r>
              <a:rPr lang="en-US" dirty="0"/>
              <a:t>Models with fixed school effects consistently provided the best fit, showing that differences between schools were meaningful and not random.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Thanks! I’m happy to take any questions.</a:t>
            </a:r>
          </a:p>
        </p:txBody>
      </p:sp>
      <p:sp>
        <p:nvSpPr>
          <p:cNvPr id="4" name="Slide Number Placeholder 3"/>
          <p:cNvSpPr>
            <a:spLocks noGrp="1"/>
          </p:cNvSpPr>
          <p:nvPr>
            <p:ph type="sldNum" sz="quarter" idx="5"/>
          </p:nvPr>
        </p:nvSpPr>
        <p:spPr/>
        <p:txBody>
          <a:bodyPr/>
          <a:lstStyle/>
          <a:p>
            <a:fld id="{BEBF972E-FD78-3440-8065-2508FFAF04F6}" type="slidenum">
              <a:rPr lang="en-US" smtClean="0"/>
              <a:t>13</a:t>
            </a:fld>
            <a:endParaRPr lang="en-US"/>
          </a:p>
        </p:txBody>
      </p:sp>
    </p:spTree>
    <p:extLst>
      <p:ext uri="{BB962C8B-B14F-4D97-AF65-F5344CB8AC3E}">
        <p14:creationId xmlns:p14="http://schemas.microsoft.com/office/powerpoint/2010/main" val="1459032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714DFD-70F9-9C42-8A80-A5002484FB04}" type="datetimeFigureOut">
              <a:rPr lang="en-US" smtClean="0"/>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547505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14DFD-70F9-9C42-8A80-A5002484FB04}" type="datetimeFigureOut">
              <a:rPr lang="en-US" smtClean="0"/>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916432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14DFD-70F9-9C42-8A80-A5002484FB04}" type="datetimeFigureOut">
              <a:rPr lang="en-US" smtClean="0"/>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4150238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714DFD-70F9-9C42-8A80-A5002484FB04}" type="datetimeFigureOut">
              <a:rPr lang="en-US" smtClean="0"/>
              <a:t>11/10/25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75050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714DFD-70F9-9C42-8A80-A5002484FB04}" type="datetimeFigureOut">
              <a:rPr lang="en-US" smtClean="0"/>
              <a:t>11/10/25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2988006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714DFD-70F9-9C42-8A80-A5002484FB04}" type="datetimeFigureOut">
              <a:rPr lang="en-US" smtClean="0"/>
              <a:t>11/10/25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2244684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714DFD-70F9-9C42-8A80-A5002484FB04}" type="datetimeFigureOut">
              <a:rPr lang="en-US" smtClean="0"/>
              <a:t>11/10/25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1425920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714DFD-70F9-9C42-8A80-A5002484FB04}" type="datetimeFigureOut">
              <a:rPr lang="en-US" smtClean="0"/>
              <a:t>11/10/25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2737306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714DFD-70F9-9C42-8A80-A5002484FB04}" type="datetimeFigureOut">
              <a:rPr lang="en-US" smtClean="0"/>
              <a:t>11/10/25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4063655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14DFD-70F9-9C42-8A80-A5002484FB04}" type="datetimeFigureOut">
              <a:rPr lang="en-US" smtClean="0"/>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1377585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14DFD-70F9-9C42-8A80-A5002484FB04}" type="datetimeFigureOut">
              <a:rPr lang="en-US" smtClean="0"/>
              <a:t>11/10/25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487FAE-6BDD-9646-88F1-0F45D7842963}" type="slidenum">
              <a:rPr lang="en-US" smtClean="0"/>
              <a:t>‹#›</a:t>
            </a:fld>
            <a:endParaRPr lang="en-US"/>
          </a:p>
        </p:txBody>
      </p:sp>
    </p:spTree>
    <p:extLst>
      <p:ext uri="{BB962C8B-B14F-4D97-AF65-F5344CB8AC3E}">
        <p14:creationId xmlns:p14="http://schemas.microsoft.com/office/powerpoint/2010/main" val="145476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714DFD-70F9-9C42-8A80-A5002484FB04}" type="datetimeFigureOut">
              <a:rPr lang="en-US" smtClean="0"/>
              <a:t>11/10/25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487FAE-6BDD-9646-88F1-0F45D7842963}" type="slidenum">
              <a:rPr lang="en-US" smtClean="0"/>
              <a:t>‹#›</a:t>
            </a:fld>
            <a:endParaRPr lang="en-US"/>
          </a:p>
        </p:txBody>
      </p:sp>
    </p:spTree>
    <p:extLst>
      <p:ext uri="{BB962C8B-B14F-4D97-AF65-F5344CB8AC3E}">
        <p14:creationId xmlns:p14="http://schemas.microsoft.com/office/powerpoint/2010/main" val="17095041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4CE29E-5BBF-8A79-F477-E517F8689570}"/>
              </a:ext>
            </a:extLst>
          </p:cNvPr>
          <p:cNvSpPr>
            <a:spLocks noGrp="1"/>
          </p:cNvSpPr>
          <p:nvPr>
            <p:ph type="ctrTitle"/>
          </p:nvPr>
        </p:nvSpPr>
        <p:spPr>
          <a:xfrm>
            <a:off x="1524003" y="1999615"/>
            <a:ext cx="9144000" cy="2764028"/>
          </a:xfrm>
        </p:spPr>
        <p:txBody>
          <a:bodyPr anchor="ctr">
            <a:normAutofit fontScale="90000"/>
          </a:bodyPr>
          <a:lstStyle/>
          <a:p>
            <a:r>
              <a:rPr lang="en-US" sz="5000" b="1" dirty="0"/>
              <a:t>Check-In/Check-Out (CICO) </a:t>
            </a:r>
            <a:br>
              <a:rPr lang="en-US" sz="5000" b="1" dirty="0"/>
            </a:br>
            <a:r>
              <a:rPr lang="en-US" sz="5000" b="1" dirty="0"/>
              <a:t>Data Analysis</a:t>
            </a:r>
            <a:br>
              <a:rPr lang="en-US" sz="2900" b="1" dirty="0"/>
            </a:br>
            <a:br>
              <a:rPr lang="en-US" sz="2900" dirty="0"/>
            </a:br>
            <a:r>
              <a:rPr lang="en-US" sz="2900" dirty="0"/>
              <a:t>Juliana Levchenko, Ph.D. </a:t>
            </a:r>
            <a:br>
              <a:rPr lang="en-US" sz="2900" dirty="0"/>
            </a:br>
            <a:r>
              <a:rPr lang="en-US" sz="2900" dirty="0"/>
              <a:t>School Mental Health Collaborative</a:t>
            </a:r>
            <a:br>
              <a:rPr lang="en-US" sz="2900" dirty="0"/>
            </a:br>
            <a:r>
              <a:rPr lang="en-US" sz="2900" dirty="0"/>
              <a:t>November 2025</a:t>
            </a:r>
          </a:p>
        </p:txBody>
      </p:sp>
      <p:sp>
        <p:nvSpPr>
          <p:cNvPr id="27" name="Rectangle 2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9058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958C4F-C97A-730B-9695-67B7370BEB59}"/>
              </a:ext>
            </a:extLst>
          </p:cNvPr>
          <p:cNvSpPr>
            <a:spLocks noGrp="1"/>
          </p:cNvSpPr>
          <p:nvPr>
            <p:ph type="title"/>
          </p:nvPr>
        </p:nvSpPr>
        <p:spPr>
          <a:xfrm>
            <a:off x="838200" y="365125"/>
            <a:ext cx="10515600" cy="1325563"/>
          </a:xfrm>
        </p:spPr>
        <p:txBody>
          <a:bodyPr>
            <a:normAutofit/>
          </a:bodyPr>
          <a:lstStyle/>
          <a:p>
            <a:r>
              <a:rPr lang="en-US" sz="5400"/>
              <a:t>Project Overview</a:t>
            </a:r>
          </a:p>
        </p:txBody>
      </p:sp>
      <p:sp>
        <p:nvSpPr>
          <p:cNvPr id="2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2B10A79-1245-4B14-8817-87010DA60F25}"/>
              </a:ext>
            </a:extLst>
          </p:cNvPr>
          <p:cNvSpPr>
            <a:spLocks noGrp="1"/>
          </p:cNvSpPr>
          <p:nvPr>
            <p:ph idx="1"/>
          </p:nvPr>
        </p:nvSpPr>
        <p:spPr>
          <a:xfrm>
            <a:off x="838200" y="1929384"/>
            <a:ext cx="10515600" cy="4251960"/>
          </a:xfrm>
        </p:spPr>
        <p:txBody>
          <a:bodyPr>
            <a:normAutofit/>
          </a:bodyPr>
          <a:lstStyle/>
          <a:p>
            <a:r>
              <a:rPr lang="en-US" sz="2200" b="1" dirty="0"/>
              <a:t>Goal: </a:t>
            </a:r>
            <a:r>
              <a:rPr lang="en-US" sz="2200" dirty="0"/>
              <a:t>Estimate the impact of CICO on student engagement and behavior</a:t>
            </a:r>
          </a:p>
          <a:p>
            <a:r>
              <a:rPr lang="en-US" sz="2200" b="1" dirty="0"/>
              <a:t>Design:</a:t>
            </a:r>
            <a:r>
              <a:rPr lang="en-US" sz="2200" dirty="0"/>
              <a:t> Students (Level 1) nested within teachers/classrooms (Level 2) and schools (Level 3)</a:t>
            </a:r>
          </a:p>
          <a:p>
            <a:r>
              <a:rPr lang="en-US" sz="2200" b="1" dirty="0"/>
              <a:t>Methods:</a:t>
            </a:r>
            <a:r>
              <a:rPr lang="en-US" sz="2200" dirty="0"/>
              <a:t> Multi-level modeling of observational and rating data</a:t>
            </a:r>
          </a:p>
          <a:p>
            <a:endParaRPr lang="en-US" sz="2200" dirty="0"/>
          </a:p>
          <a:p>
            <a:pPr marL="0" indent="0">
              <a:buNone/>
            </a:pPr>
            <a:r>
              <a:rPr lang="en-US" sz="2200" b="1" dirty="0"/>
              <a:t>Research Questions:</a:t>
            </a:r>
            <a:endParaRPr lang="en-US" sz="2200" dirty="0"/>
          </a:p>
          <a:p>
            <a:r>
              <a:rPr lang="en-US" sz="2200" dirty="0"/>
              <a:t>RQ1: Do students receiving CICO show higher on-task behavior and lower disruptive behavior over time compared to those in business-as-usual (BAU) conditions?</a:t>
            </a:r>
          </a:p>
          <a:p>
            <a:r>
              <a:rPr lang="en-US" sz="2200" dirty="0"/>
              <a:t>RQ2: Do CICO students exhibit better BASC-3 teacher-rated outcomes at posttest after controlling for baseline scores?</a:t>
            </a:r>
          </a:p>
          <a:p>
            <a:endParaRPr lang="en-US" sz="2200" dirty="0"/>
          </a:p>
        </p:txBody>
      </p:sp>
    </p:spTree>
    <p:extLst>
      <p:ext uri="{BB962C8B-B14F-4D97-AF65-F5344CB8AC3E}">
        <p14:creationId xmlns:p14="http://schemas.microsoft.com/office/powerpoint/2010/main" val="125750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DE8536-EA1F-7F7D-E3E1-4F1B069B201F}"/>
              </a:ext>
            </a:extLst>
          </p:cNvPr>
          <p:cNvSpPr>
            <a:spLocks noGrp="1"/>
          </p:cNvSpPr>
          <p:nvPr>
            <p:ph type="title"/>
          </p:nvPr>
        </p:nvSpPr>
        <p:spPr>
          <a:xfrm>
            <a:off x="838200" y="365125"/>
            <a:ext cx="10515600" cy="1325563"/>
          </a:xfrm>
        </p:spPr>
        <p:txBody>
          <a:bodyPr>
            <a:normAutofit/>
          </a:bodyPr>
          <a:lstStyle/>
          <a:p>
            <a:r>
              <a:rPr lang="en-US" sz="5400"/>
              <a:t>Data Sources &amp; Outcomes</a:t>
            </a:r>
          </a:p>
        </p:txBody>
      </p:sp>
      <p:sp>
        <p:nvSpPr>
          <p:cNvPr id="4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2">
            <a:extLst>
              <a:ext uri="{FF2B5EF4-FFF2-40B4-BE49-F238E27FC236}">
                <a16:creationId xmlns:a16="http://schemas.microsoft.com/office/drawing/2014/main" id="{E2BBF978-69F5-77F7-4A95-840C8D261362}"/>
              </a:ext>
            </a:extLst>
          </p:cNvPr>
          <p:cNvSpPr>
            <a:spLocks noGrp="1"/>
          </p:cNvSpPr>
          <p:nvPr>
            <p:ph idx="1"/>
          </p:nvPr>
        </p:nvSpPr>
        <p:spPr>
          <a:xfrm>
            <a:off x="838200" y="1929384"/>
            <a:ext cx="10515600" cy="4251960"/>
          </a:xfrm>
        </p:spPr>
        <p:txBody>
          <a:bodyPr>
            <a:normAutofit/>
          </a:bodyPr>
          <a:lstStyle/>
          <a:p>
            <a:pPr marL="0" indent="0">
              <a:buNone/>
            </a:pPr>
            <a:r>
              <a:rPr lang="en-US" sz="2200" b="1" dirty="0"/>
              <a:t>Data Sources:</a:t>
            </a:r>
            <a:endParaRPr lang="en-US" sz="2200" dirty="0"/>
          </a:p>
          <a:p>
            <a:r>
              <a:rPr lang="en-US" sz="2200" i="1" dirty="0"/>
              <a:t>CICO Direct Observations (SDO):</a:t>
            </a:r>
            <a:r>
              <a:rPr lang="en-US" sz="2200" dirty="0"/>
              <a:t> 2021–2025 repeated classroom observations of target students</a:t>
            </a:r>
          </a:p>
          <a:p>
            <a:r>
              <a:rPr lang="en-US" sz="2200" i="1" dirty="0"/>
              <a:t>BASC-3 Teacher Ratings:</a:t>
            </a:r>
            <a:r>
              <a:rPr lang="en-US" sz="2200" dirty="0"/>
              <a:t> Collected pre- and post-intervention</a:t>
            </a:r>
          </a:p>
          <a:p>
            <a:r>
              <a:rPr lang="en-US" sz="2200" i="1" dirty="0"/>
              <a:t>Linked identifiers:</a:t>
            </a:r>
            <a:r>
              <a:rPr lang="en-US" sz="2200" dirty="0"/>
              <a:t> Students, teachers, and schools</a:t>
            </a:r>
          </a:p>
          <a:p>
            <a:endParaRPr lang="en-US" sz="2200" dirty="0"/>
          </a:p>
          <a:p>
            <a:pPr marL="0" indent="0">
              <a:buNone/>
            </a:pPr>
            <a:r>
              <a:rPr lang="en-US" sz="2200" b="1" dirty="0"/>
              <a:t>Key Outcomes:</a:t>
            </a:r>
            <a:endParaRPr lang="en-US" sz="2200" dirty="0"/>
          </a:p>
          <a:p>
            <a:r>
              <a:rPr lang="en-US" sz="2200" dirty="0"/>
              <a:t>Proximal (SDO): Percent on-task and percent disruptive</a:t>
            </a:r>
          </a:p>
          <a:p>
            <a:r>
              <a:rPr lang="en-US" sz="2200" dirty="0"/>
              <a:t>Distal (BASC-3): Externalizing, Internalizing, School Problems, and Adaptive Skills</a:t>
            </a:r>
          </a:p>
          <a:p>
            <a:endParaRPr lang="en-US" sz="2200" dirty="0"/>
          </a:p>
          <a:p>
            <a:endParaRPr lang="en-US" sz="2200" dirty="0"/>
          </a:p>
        </p:txBody>
      </p:sp>
    </p:spTree>
    <p:extLst>
      <p:ext uri="{BB962C8B-B14F-4D97-AF65-F5344CB8AC3E}">
        <p14:creationId xmlns:p14="http://schemas.microsoft.com/office/powerpoint/2010/main" val="2143735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EB8052-5348-B031-4FF1-E1CB15A3C8F8}"/>
              </a:ext>
            </a:extLst>
          </p:cNvPr>
          <p:cNvSpPr>
            <a:spLocks noGrp="1"/>
          </p:cNvSpPr>
          <p:nvPr>
            <p:ph type="title"/>
          </p:nvPr>
        </p:nvSpPr>
        <p:spPr>
          <a:xfrm>
            <a:off x="838200" y="365125"/>
            <a:ext cx="10515600" cy="1325563"/>
          </a:xfrm>
        </p:spPr>
        <p:txBody>
          <a:bodyPr>
            <a:normAutofit/>
          </a:bodyPr>
          <a:lstStyle/>
          <a:p>
            <a:r>
              <a:rPr lang="en-US" sz="5400" dirty="0"/>
              <a:t>Analysis Workflow</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9F91AB2-C7CF-595C-4F95-5254395AB273}"/>
              </a:ext>
            </a:extLst>
          </p:cNvPr>
          <p:cNvSpPr>
            <a:spLocks noGrp="1"/>
          </p:cNvSpPr>
          <p:nvPr>
            <p:ph idx="1"/>
          </p:nvPr>
        </p:nvSpPr>
        <p:spPr>
          <a:xfrm>
            <a:off x="838200" y="1929384"/>
            <a:ext cx="10515600" cy="4251960"/>
          </a:xfrm>
        </p:spPr>
        <p:txBody>
          <a:bodyPr>
            <a:normAutofit/>
          </a:bodyPr>
          <a:lstStyle/>
          <a:p>
            <a:pPr marL="457200" indent="-457200">
              <a:buFont typeface="+mj-lt"/>
              <a:buAutoNum type="arabicPeriod"/>
            </a:pPr>
            <a:r>
              <a:rPr lang="en-US" sz="2200" dirty="0"/>
              <a:t>Import, merge, and clean multi-year SDO and BASC-3 datasets</a:t>
            </a:r>
          </a:p>
          <a:p>
            <a:pPr marL="457200" indent="-457200">
              <a:buFont typeface="+mj-lt"/>
              <a:buAutoNum type="arabicPeriod"/>
            </a:pPr>
            <a:r>
              <a:rPr lang="en-US" sz="2200" dirty="0"/>
              <a:t>Address missingness with full-information maximum likelihood (FIML)</a:t>
            </a:r>
          </a:p>
          <a:p>
            <a:pPr marL="457200" indent="-457200">
              <a:buFont typeface="+mj-lt"/>
              <a:buAutoNum type="arabicPeriod"/>
            </a:pPr>
            <a:r>
              <a:rPr lang="en-US" sz="2200" dirty="0"/>
              <a:t>Test baseline equivalence and differential attrition across groups</a:t>
            </a:r>
          </a:p>
          <a:p>
            <a:pPr marL="457200" indent="-457200">
              <a:buFont typeface="+mj-lt"/>
              <a:buAutoNum type="arabicPeriod"/>
            </a:pPr>
            <a:r>
              <a:rPr lang="en-US" sz="2200" dirty="0"/>
              <a:t>Fit multilevel models:</a:t>
            </a:r>
          </a:p>
          <a:p>
            <a:pPr marL="914400" lvl="1" indent="-457200">
              <a:buFont typeface="+mj-lt"/>
              <a:buAutoNum type="arabicPeriod"/>
            </a:pPr>
            <a:r>
              <a:rPr lang="en-US" sz="2200" b="1" dirty="0"/>
              <a:t>RQ1:</a:t>
            </a:r>
            <a:r>
              <a:rPr lang="en-US" sz="2200" dirty="0"/>
              <a:t> 3-level growth models (time within students within schools)</a:t>
            </a:r>
          </a:p>
          <a:p>
            <a:pPr marL="914400" lvl="1" indent="-457200">
              <a:buFont typeface="+mj-lt"/>
              <a:buAutoNum type="arabicPeriod"/>
            </a:pPr>
            <a:r>
              <a:rPr lang="en-US" sz="2200" b="1" dirty="0"/>
              <a:t>RQ2:</a:t>
            </a:r>
            <a:r>
              <a:rPr lang="en-US" sz="2200" dirty="0"/>
              <a:t> 2-level ANCOVA models (students within classrooms)</a:t>
            </a:r>
          </a:p>
          <a:p>
            <a:pPr marL="457200" indent="-457200">
              <a:buFont typeface="+mj-lt"/>
              <a:buAutoNum type="arabicPeriod"/>
            </a:pPr>
            <a:r>
              <a:rPr lang="en-US" sz="2200" dirty="0"/>
              <a:t>Compare </a:t>
            </a:r>
            <a:r>
              <a:rPr lang="en-US" sz="2200" b="1" dirty="0"/>
              <a:t>fixed vs. random school effects</a:t>
            </a:r>
            <a:r>
              <a:rPr lang="en-US" sz="2200" dirty="0"/>
              <a:t> for model fit and interpretability</a:t>
            </a:r>
          </a:p>
          <a:p>
            <a:pPr marL="457200" indent="-457200">
              <a:buFont typeface="+mj-lt"/>
              <a:buAutoNum type="arabicPeriod"/>
            </a:pPr>
            <a:r>
              <a:rPr lang="en-US" sz="2200" dirty="0"/>
              <a:t>Estimate adjusted means, intraclass correlations (ICCs), and standardized effect sizes</a:t>
            </a:r>
          </a:p>
          <a:p>
            <a:endParaRPr lang="en-US" sz="2200" dirty="0"/>
          </a:p>
        </p:txBody>
      </p:sp>
    </p:spTree>
    <p:extLst>
      <p:ext uri="{BB962C8B-B14F-4D97-AF65-F5344CB8AC3E}">
        <p14:creationId xmlns:p14="http://schemas.microsoft.com/office/powerpoint/2010/main" val="3155303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0445EC-37DE-D287-BDEC-42BF13839DAA}"/>
              </a:ext>
            </a:extLst>
          </p:cNvPr>
          <p:cNvSpPr>
            <a:spLocks noGrp="1"/>
          </p:cNvSpPr>
          <p:nvPr>
            <p:ph type="title"/>
          </p:nvPr>
        </p:nvSpPr>
        <p:spPr>
          <a:xfrm>
            <a:off x="838200" y="365125"/>
            <a:ext cx="10515600" cy="1325563"/>
          </a:xfrm>
        </p:spPr>
        <p:txBody>
          <a:bodyPr>
            <a:normAutofit/>
          </a:bodyPr>
          <a:lstStyle/>
          <a:p>
            <a:r>
              <a:rPr lang="en-US" sz="5400"/>
              <a:t>Data Summary</a:t>
            </a:r>
          </a:p>
        </p:txBody>
      </p:sp>
      <p:sp>
        <p:nvSpPr>
          <p:cNvPr id="2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6">
            <a:extLst>
              <a:ext uri="{FF2B5EF4-FFF2-40B4-BE49-F238E27FC236}">
                <a16:creationId xmlns:a16="http://schemas.microsoft.com/office/drawing/2014/main" id="{DC11405E-819C-6FEA-D2E1-2D9EFB632E7D}"/>
              </a:ext>
            </a:extLst>
          </p:cNvPr>
          <p:cNvSpPr>
            <a:spLocks noGrp="1" noChangeArrowheads="1"/>
          </p:cNvSpPr>
          <p:nvPr>
            <p:ph idx="1"/>
          </p:nvPr>
        </p:nvSpPr>
        <p:spPr bwMode="auto">
          <a:xfrm>
            <a:off x="838200" y="1929384"/>
            <a:ext cx="10515600" cy="42519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r>
              <a:rPr lang="en-US" sz="2200" dirty="0"/>
              <a:t>SDO: 1,153 total phase-level observations, 326 unique students across 24 schools</a:t>
            </a:r>
          </a:p>
          <a:p>
            <a:r>
              <a:rPr lang="en-US" sz="2200" dirty="0"/>
              <a:t>BASC-3: 249 students across 149 teachers</a:t>
            </a:r>
          </a:p>
          <a:p>
            <a:r>
              <a:rPr lang="en-US" sz="2200" dirty="0"/>
              <a:t>Differential attrition (SDO): </a:t>
            </a:r>
            <a:r>
              <a:rPr lang="en-US" sz="2200" b="1" dirty="0"/>
              <a:t>CICO 6.8%</a:t>
            </a:r>
            <a:r>
              <a:rPr lang="en-US" sz="2200" dirty="0"/>
              <a:t>, </a:t>
            </a:r>
            <a:r>
              <a:rPr lang="en-US" sz="2200" b="1" dirty="0"/>
              <a:t>BAU 0.7%</a:t>
            </a:r>
            <a:r>
              <a:rPr lang="en-US" sz="2200" dirty="0"/>
              <a:t>, </a:t>
            </a:r>
            <a:r>
              <a:rPr lang="en-US" sz="2200" i="1" dirty="0"/>
              <a:t>p = .017</a:t>
            </a:r>
            <a:endParaRPr lang="en-US" sz="2200" dirty="0"/>
          </a:p>
          <a:p>
            <a:r>
              <a:rPr lang="en-US" sz="2200" dirty="0"/>
              <a:t>Attrition included as a covariate in SDO models</a:t>
            </a:r>
          </a:p>
          <a:p>
            <a:r>
              <a:rPr lang="en-US" sz="2200" dirty="0"/>
              <a:t>BASC attrition low and balanced across groups(</a:t>
            </a:r>
            <a:r>
              <a:rPr lang="en-US" sz="2200" i="1" dirty="0"/>
              <a:t>p = .94</a:t>
            </a:r>
            <a:r>
              <a:rPr lang="en-US" sz="2200" dirty="0"/>
              <a:t>)</a:t>
            </a:r>
          </a:p>
        </p:txBody>
      </p:sp>
    </p:spTree>
    <p:extLst>
      <p:ext uri="{BB962C8B-B14F-4D97-AF65-F5344CB8AC3E}">
        <p14:creationId xmlns:p14="http://schemas.microsoft.com/office/powerpoint/2010/main" val="3904297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A6072F-FD12-63E9-7DFF-1B35F5902C65}"/>
              </a:ext>
            </a:extLst>
          </p:cNvPr>
          <p:cNvSpPr>
            <a:spLocks noGrp="1"/>
          </p:cNvSpPr>
          <p:nvPr>
            <p:ph type="title"/>
          </p:nvPr>
        </p:nvSpPr>
        <p:spPr>
          <a:xfrm>
            <a:off x="838200" y="365125"/>
            <a:ext cx="10515600" cy="1325563"/>
          </a:xfrm>
        </p:spPr>
        <p:txBody>
          <a:bodyPr>
            <a:normAutofit/>
          </a:bodyPr>
          <a:lstStyle/>
          <a:p>
            <a:r>
              <a:rPr lang="en-US" sz="5400"/>
              <a:t>RQ1: Baseline &amp; ICCs</a:t>
            </a:r>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947ED2D-4864-1E3E-E4D4-B8037EBDA541}"/>
              </a:ext>
            </a:extLst>
          </p:cNvPr>
          <p:cNvSpPr>
            <a:spLocks noGrp="1"/>
          </p:cNvSpPr>
          <p:nvPr>
            <p:ph idx="1"/>
          </p:nvPr>
        </p:nvSpPr>
        <p:spPr>
          <a:xfrm>
            <a:off x="838200" y="1929384"/>
            <a:ext cx="10515600" cy="4251960"/>
          </a:xfrm>
        </p:spPr>
        <p:txBody>
          <a:bodyPr>
            <a:normAutofit/>
          </a:bodyPr>
          <a:lstStyle/>
          <a:p>
            <a:pPr marL="0" indent="0">
              <a:buNone/>
            </a:pPr>
            <a:r>
              <a:rPr lang="en-US" sz="2200" b="1" dirty="0"/>
              <a:t>Baseline Equivalence:</a:t>
            </a:r>
            <a:endParaRPr lang="en-US" sz="2200" dirty="0"/>
          </a:p>
          <a:p>
            <a:r>
              <a:rPr lang="en-US" sz="2200" dirty="0"/>
              <a:t>Groups were similar at baseline</a:t>
            </a:r>
          </a:p>
          <a:p>
            <a:pPr lvl="1"/>
            <a:r>
              <a:rPr lang="en-US" sz="2200" dirty="0"/>
              <a:t>On-task: </a:t>
            </a:r>
            <a:r>
              <a:rPr lang="en-US" sz="2200" i="1" dirty="0"/>
              <a:t>g = 0.12</a:t>
            </a:r>
            <a:endParaRPr lang="en-US" sz="2200" dirty="0"/>
          </a:p>
          <a:p>
            <a:pPr lvl="1"/>
            <a:r>
              <a:rPr lang="en-US" sz="2200" dirty="0"/>
              <a:t>Disruptive: </a:t>
            </a:r>
            <a:r>
              <a:rPr lang="en-US" sz="2200" i="1" dirty="0"/>
              <a:t>g = 0.11</a:t>
            </a:r>
          </a:p>
          <a:p>
            <a:pPr lvl="1"/>
            <a:endParaRPr lang="en-US" sz="2200" dirty="0"/>
          </a:p>
          <a:p>
            <a:pPr marL="0" indent="0">
              <a:buNone/>
            </a:pPr>
            <a:r>
              <a:rPr lang="en-US" sz="2200" b="1" dirty="0"/>
              <a:t>Intraclass Correlations (ICCs):</a:t>
            </a:r>
            <a:endParaRPr lang="en-US" sz="2200" dirty="0"/>
          </a:p>
          <a:p>
            <a:r>
              <a:rPr lang="en-US" sz="2200" dirty="0"/>
              <a:t>On-task = .49</a:t>
            </a:r>
          </a:p>
          <a:p>
            <a:r>
              <a:rPr lang="en-US" sz="2200" dirty="0"/>
              <a:t>Disruptive = .60</a:t>
            </a:r>
            <a:br>
              <a:rPr lang="en-US" sz="2200" dirty="0"/>
            </a:br>
            <a:r>
              <a:rPr lang="en-US" sz="2200" dirty="0"/>
              <a:t>→ Strong clustering; multilevel modeling appropriate</a:t>
            </a:r>
          </a:p>
          <a:p>
            <a:endParaRPr lang="en-US" sz="2200" dirty="0"/>
          </a:p>
        </p:txBody>
      </p:sp>
    </p:spTree>
    <p:extLst>
      <p:ext uri="{BB962C8B-B14F-4D97-AF65-F5344CB8AC3E}">
        <p14:creationId xmlns:p14="http://schemas.microsoft.com/office/powerpoint/2010/main" val="1537875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615271-2A85-D02C-84CA-699248F5B952}"/>
              </a:ext>
            </a:extLst>
          </p:cNvPr>
          <p:cNvSpPr>
            <a:spLocks noGrp="1"/>
          </p:cNvSpPr>
          <p:nvPr>
            <p:ph type="title"/>
          </p:nvPr>
        </p:nvSpPr>
        <p:spPr>
          <a:xfrm>
            <a:off x="838200" y="365125"/>
            <a:ext cx="10515600" cy="1325563"/>
          </a:xfrm>
        </p:spPr>
        <p:txBody>
          <a:bodyPr>
            <a:normAutofit/>
          </a:bodyPr>
          <a:lstStyle/>
          <a:p>
            <a:r>
              <a:rPr lang="en-US" sz="5400"/>
              <a:t>RQ1: Multilevel Growth Results</a:t>
            </a:r>
          </a:p>
        </p:txBody>
      </p:sp>
      <p:sp>
        <p:nvSpPr>
          <p:cNvPr id="3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6FF1D1A-2E19-255C-AE39-EB1232644A54}"/>
              </a:ext>
            </a:extLst>
          </p:cNvPr>
          <p:cNvSpPr>
            <a:spLocks noGrp="1"/>
          </p:cNvSpPr>
          <p:nvPr>
            <p:ph idx="1"/>
          </p:nvPr>
        </p:nvSpPr>
        <p:spPr>
          <a:xfrm>
            <a:off x="838200" y="1929384"/>
            <a:ext cx="10515600" cy="4251960"/>
          </a:xfrm>
        </p:spPr>
        <p:txBody>
          <a:bodyPr>
            <a:normAutofit/>
          </a:bodyPr>
          <a:lstStyle/>
          <a:p>
            <a:pPr marL="0" indent="0">
              <a:buNone/>
            </a:pPr>
            <a:r>
              <a:rPr lang="en-US" sz="2200" b="1" dirty="0"/>
              <a:t>At Posttest (Week 12):</a:t>
            </a:r>
            <a:endParaRPr lang="en-US" sz="2200" dirty="0"/>
          </a:p>
          <a:p>
            <a:r>
              <a:rPr lang="en-US" sz="2200" dirty="0"/>
              <a:t>CICO students </a:t>
            </a:r>
            <a:r>
              <a:rPr lang="en-US" sz="2200" b="1" dirty="0"/>
              <a:t>more on-task</a:t>
            </a:r>
            <a:r>
              <a:rPr lang="en-US" sz="2200" dirty="0"/>
              <a:t> </a:t>
            </a:r>
            <a:r>
              <a:rPr lang="en-US" sz="2200" i="1" dirty="0"/>
              <a:t>(b = 0.13, p = .001)</a:t>
            </a:r>
            <a:endParaRPr lang="en-US" sz="2200" dirty="0"/>
          </a:p>
          <a:p>
            <a:r>
              <a:rPr lang="en-US" sz="2200" dirty="0"/>
              <a:t>CICO students </a:t>
            </a:r>
            <a:r>
              <a:rPr lang="en-US" sz="2200" b="1" dirty="0"/>
              <a:t>less disruptive</a:t>
            </a:r>
            <a:r>
              <a:rPr lang="en-US" sz="2200" dirty="0"/>
              <a:t> </a:t>
            </a:r>
            <a:r>
              <a:rPr lang="en-US" sz="2200" i="1" dirty="0"/>
              <a:t>(b = –0.16, p &lt; .001)</a:t>
            </a:r>
          </a:p>
          <a:p>
            <a:endParaRPr lang="en-US" sz="2200" dirty="0"/>
          </a:p>
          <a:p>
            <a:pPr marL="0" indent="0">
              <a:buNone/>
            </a:pPr>
            <a:r>
              <a:rPr lang="en-US" sz="2200" b="1" dirty="0"/>
              <a:t>Growth Over Time (Week × Condition):</a:t>
            </a:r>
          </a:p>
          <a:p>
            <a:r>
              <a:rPr lang="en-US" sz="2200" dirty="0"/>
              <a:t>On-task increased faster for CICO </a:t>
            </a:r>
            <a:r>
              <a:rPr lang="en-US" sz="2200" i="1" dirty="0"/>
              <a:t>(b = 0.005, p = .001)</a:t>
            </a:r>
            <a:endParaRPr lang="en-US" sz="2200" dirty="0"/>
          </a:p>
          <a:p>
            <a:r>
              <a:rPr lang="en-US" sz="2200" dirty="0"/>
              <a:t>Disruptive behavior declined faster </a:t>
            </a:r>
            <a:r>
              <a:rPr lang="en-US" sz="2200" i="1" dirty="0"/>
              <a:t>(b = –0.003, p = .010)</a:t>
            </a:r>
          </a:p>
          <a:p>
            <a:endParaRPr lang="en-US" sz="2200" dirty="0"/>
          </a:p>
          <a:p>
            <a:pPr marL="0" indent="0">
              <a:buNone/>
            </a:pPr>
            <a:r>
              <a:rPr lang="en-US" sz="2200" b="1" dirty="0"/>
              <a:t>Model Fit:</a:t>
            </a:r>
            <a:endParaRPr lang="en-US" sz="2200" dirty="0"/>
          </a:p>
          <a:p>
            <a:r>
              <a:rPr lang="en-US" sz="2200" dirty="0"/>
              <a:t>Fixed school effects fit better than random (</a:t>
            </a:r>
            <a:r>
              <a:rPr lang="el-GR" sz="2200" dirty="0"/>
              <a:t>Δ</a:t>
            </a:r>
            <a:r>
              <a:rPr lang="en-US" sz="2200" dirty="0"/>
              <a:t>AIC ≈ 20–50)</a:t>
            </a:r>
          </a:p>
          <a:p>
            <a:endParaRPr lang="en-US" sz="2200" dirty="0"/>
          </a:p>
        </p:txBody>
      </p:sp>
    </p:spTree>
    <p:extLst>
      <p:ext uri="{BB962C8B-B14F-4D97-AF65-F5344CB8AC3E}">
        <p14:creationId xmlns:p14="http://schemas.microsoft.com/office/powerpoint/2010/main" val="1280934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49A1D8-2194-F816-D007-0300BB6CFC5D}"/>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4600" kern="1200">
                <a:solidFill>
                  <a:schemeClr val="tx1"/>
                </a:solidFill>
                <a:latin typeface="+mj-lt"/>
                <a:ea typeface="+mj-ea"/>
                <a:cs typeface="+mj-cs"/>
              </a:rPr>
              <a:t>RQ1: Standardized Effects by Phase</a:t>
            </a:r>
          </a:p>
        </p:txBody>
      </p:sp>
      <p:sp>
        <p:nvSpPr>
          <p:cNvPr id="3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404B3080-5D56-4F70-B80E-C0F0CF82660C}"/>
              </a:ext>
            </a:extLst>
          </p:cNvPr>
          <p:cNvSpPr>
            <a:spLocks noChangeArrowheads="1"/>
          </p:cNvSpPr>
          <p:nvPr/>
        </p:nvSpPr>
        <p:spPr bwMode="auto">
          <a:xfrm>
            <a:off x="630936" y="2660904"/>
            <a:ext cx="4818888" cy="35478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R="0" lvl="0" defTabSz="914400" fontAlgn="base">
              <a:lnSpc>
                <a:spcPct val="90000"/>
              </a:lnSpc>
              <a:spcBef>
                <a:spcPct val="0"/>
              </a:spcBef>
              <a:spcAft>
                <a:spcPts val="600"/>
              </a:spcAft>
              <a:buClrTx/>
              <a:buSzTx/>
              <a:tabLst/>
            </a:pPr>
            <a:r>
              <a:rPr kumimoji="0" lang="en-US" altLang="en-US" sz="2200" b="1" i="0" u="none" strike="noStrike" cap="none" normalizeH="0" baseline="0" dirty="0">
                <a:ln>
                  <a:noFill/>
                </a:ln>
                <a:effectLst/>
              </a:rPr>
              <a:t>Interpretation:</a:t>
            </a:r>
          </a:p>
          <a:p>
            <a:pPr marR="0" lvl="0" indent="-228600" defTabSz="914400" fontAlgn="base">
              <a:lnSpc>
                <a:spcPct val="90000"/>
              </a:lnSpc>
              <a:spcBef>
                <a:spcPct val="0"/>
              </a:spcBef>
              <a:spcAft>
                <a:spcPts val="600"/>
              </a:spcAft>
              <a:buClrTx/>
              <a:buSzTx/>
              <a:buFont typeface="Arial" panose="020B0604020202020204" pitchFamily="34" charset="0"/>
              <a:buChar char="•"/>
              <a:tabLst/>
            </a:pPr>
            <a:endParaRPr kumimoji="0" lang="en-US" altLang="en-US" sz="2200" b="0" i="0" u="none" strike="noStrike" cap="none" normalizeH="0" baseline="0" dirty="0">
              <a:ln>
                <a:noFill/>
              </a:ln>
              <a:effectLst/>
            </a:endParaRPr>
          </a:p>
          <a:p>
            <a:pPr marL="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effectLst/>
              </a:rPr>
              <a:t>CICO students became more engaged and less disruptive by posttest</a:t>
            </a:r>
          </a:p>
          <a:p>
            <a:pPr marL="0" marR="0" lvl="0" indent="-228600" defTabSz="914400" fontAlgn="base">
              <a:lnSpc>
                <a:spcPct val="90000"/>
              </a:lnSpc>
              <a:spcBef>
                <a:spcPct val="0"/>
              </a:spcBef>
              <a:spcAft>
                <a:spcPts val="600"/>
              </a:spcAft>
              <a:buClrTx/>
              <a:buSzTx/>
              <a:buFont typeface="Arial" panose="020B0604020202020204" pitchFamily="34" charset="0"/>
              <a:buChar char="•"/>
              <a:tabLst/>
            </a:pPr>
            <a:endParaRPr kumimoji="0" lang="en-US" altLang="en-US" sz="2200" b="0" i="0" u="none" strike="noStrike" cap="none" normalizeH="0" baseline="0" dirty="0">
              <a:ln>
                <a:noFill/>
              </a:ln>
              <a:effectLst/>
            </a:endParaRPr>
          </a:p>
          <a:p>
            <a:pPr marL="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effectLst/>
              </a:rPr>
              <a:t>Gains continued or strengthened during maintenance</a:t>
            </a:r>
          </a:p>
          <a:p>
            <a:pPr marL="0" marR="0" lvl="0" indent="-228600" defTabSz="914400" fontAlgn="base">
              <a:lnSpc>
                <a:spcPct val="90000"/>
              </a:lnSpc>
              <a:spcBef>
                <a:spcPct val="0"/>
              </a:spcBef>
              <a:spcAft>
                <a:spcPts val="600"/>
              </a:spcAft>
              <a:buClrTx/>
              <a:buSzTx/>
              <a:buFont typeface="Arial" panose="020B0604020202020204" pitchFamily="34" charset="0"/>
              <a:buChar char="•"/>
              <a:tabLst/>
            </a:pPr>
            <a:endParaRPr kumimoji="0" lang="en-US" altLang="en-US" sz="2200" b="0" i="0" u="none" strike="noStrike" cap="none" normalizeH="0" baseline="0" dirty="0">
              <a:ln>
                <a:noFill/>
              </a:ln>
              <a:effectLst/>
            </a:endParaRPr>
          </a:p>
        </p:txBody>
      </p:sp>
      <p:graphicFrame>
        <p:nvGraphicFramePr>
          <p:cNvPr id="4" name="Content Placeholder 3">
            <a:extLst>
              <a:ext uri="{FF2B5EF4-FFF2-40B4-BE49-F238E27FC236}">
                <a16:creationId xmlns:a16="http://schemas.microsoft.com/office/drawing/2014/main" id="{4CA20662-D72D-A02E-39AD-9A402FEF44E5}"/>
              </a:ext>
            </a:extLst>
          </p:cNvPr>
          <p:cNvGraphicFramePr>
            <a:graphicFrameLocks noGrp="1"/>
          </p:cNvGraphicFramePr>
          <p:nvPr>
            <p:ph idx="1"/>
            <p:extLst>
              <p:ext uri="{D42A27DB-BD31-4B8C-83A1-F6EECF244321}">
                <p14:modId xmlns:p14="http://schemas.microsoft.com/office/powerpoint/2010/main" val="988257658"/>
              </p:ext>
            </p:extLst>
          </p:nvPr>
        </p:nvGraphicFramePr>
        <p:xfrm>
          <a:off x="6099048" y="1411742"/>
          <a:ext cx="5458969" cy="4034521"/>
        </p:xfrm>
        <a:graphic>
          <a:graphicData uri="http://schemas.openxmlformats.org/drawingml/2006/table">
            <a:tbl>
              <a:tblPr firstRow="1" bandRow="1">
                <a:solidFill>
                  <a:schemeClr val="bg1">
                    <a:lumMod val="95000"/>
                  </a:schemeClr>
                </a:solidFill>
                <a:tableStyleId>{8EC20E35-A176-4012-BC5E-935CFFF8708E}</a:tableStyleId>
              </a:tblPr>
              <a:tblGrid>
                <a:gridCol w="2028287">
                  <a:extLst>
                    <a:ext uri="{9D8B030D-6E8A-4147-A177-3AD203B41FA5}">
                      <a16:colId xmlns:a16="http://schemas.microsoft.com/office/drawing/2014/main" val="2192886504"/>
                    </a:ext>
                  </a:extLst>
                </a:gridCol>
                <a:gridCol w="1654339">
                  <a:extLst>
                    <a:ext uri="{9D8B030D-6E8A-4147-A177-3AD203B41FA5}">
                      <a16:colId xmlns:a16="http://schemas.microsoft.com/office/drawing/2014/main" val="4294898651"/>
                    </a:ext>
                  </a:extLst>
                </a:gridCol>
                <a:gridCol w="1776343">
                  <a:extLst>
                    <a:ext uri="{9D8B030D-6E8A-4147-A177-3AD203B41FA5}">
                      <a16:colId xmlns:a16="http://schemas.microsoft.com/office/drawing/2014/main" val="731986779"/>
                    </a:ext>
                  </a:extLst>
                </a:gridCol>
              </a:tblGrid>
              <a:tr h="1556025">
                <a:tc>
                  <a:txBody>
                    <a:bodyPr/>
                    <a:lstStyle/>
                    <a:p>
                      <a:pPr>
                        <a:buNone/>
                      </a:pPr>
                      <a:r>
                        <a:rPr lang="en-US" sz="2700" b="0" cap="none" spc="0">
                          <a:solidFill>
                            <a:schemeClr val="bg1"/>
                          </a:solidFill>
                        </a:rPr>
                        <a:t>Phase</a:t>
                      </a:r>
                    </a:p>
                  </a:txBody>
                  <a:tcPr marL="177994" marR="177994" marT="156067" marB="88996" anchor="ctr">
                    <a:lnL w="12700" cmpd="sng">
                      <a:noFill/>
                    </a:lnL>
                    <a:lnR w="12700" cmpd="sng">
                      <a:noFill/>
                    </a:lnR>
                    <a:lnT w="19050" cap="flat" cmpd="sng" algn="ctr">
                      <a:noFill/>
                      <a:prstDash val="solid"/>
                    </a:lnT>
                    <a:lnB w="38100" cmpd="sng">
                      <a:noFill/>
                    </a:lnB>
                    <a:solidFill>
                      <a:schemeClr val="accent2"/>
                    </a:solidFill>
                  </a:tcPr>
                </a:tc>
                <a:tc>
                  <a:txBody>
                    <a:bodyPr/>
                    <a:lstStyle/>
                    <a:p>
                      <a:pPr>
                        <a:buNone/>
                      </a:pPr>
                      <a:r>
                        <a:rPr lang="en-US" sz="2700" b="0" cap="none" spc="0">
                          <a:solidFill>
                            <a:schemeClr val="bg1"/>
                          </a:solidFill>
                        </a:rPr>
                        <a:t>On-Task (d)</a:t>
                      </a:r>
                    </a:p>
                  </a:txBody>
                  <a:tcPr marL="177994" marR="177994" marT="156067" marB="88996" anchor="ctr">
                    <a:lnL w="12700" cmpd="sng">
                      <a:noFill/>
                    </a:lnL>
                    <a:lnR w="12700" cmpd="sng">
                      <a:noFill/>
                    </a:lnR>
                    <a:lnT w="19050" cap="flat" cmpd="sng" algn="ctr">
                      <a:noFill/>
                      <a:prstDash val="solid"/>
                    </a:lnT>
                    <a:lnB w="38100" cmpd="sng">
                      <a:noFill/>
                    </a:lnB>
                    <a:solidFill>
                      <a:schemeClr val="accent2"/>
                    </a:solidFill>
                  </a:tcPr>
                </a:tc>
                <a:tc>
                  <a:txBody>
                    <a:bodyPr/>
                    <a:lstStyle/>
                    <a:p>
                      <a:pPr>
                        <a:buNone/>
                      </a:pPr>
                      <a:r>
                        <a:rPr lang="en-US" sz="2700" b="0" cap="none" spc="0" dirty="0">
                          <a:solidFill>
                            <a:schemeClr val="bg1"/>
                          </a:solidFill>
                        </a:rPr>
                        <a:t>Disruptive (d)</a:t>
                      </a:r>
                    </a:p>
                  </a:txBody>
                  <a:tcPr marL="177994" marR="177994" marT="156067" marB="88996"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44626100"/>
                  </a:ext>
                </a:extLst>
              </a:tr>
              <a:tr h="619624">
                <a:tc>
                  <a:txBody>
                    <a:bodyPr/>
                    <a:lstStyle/>
                    <a:p>
                      <a:pPr>
                        <a:buNone/>
                      </a:pPr>
                      <a:r>
                        <a:rPr lang="en-US" sz="2000" cap="none" spc="0">
                          <a:solidFill>
                            <a:schemeClr val="tx1"/>
                          </a:solidFill>
                        </a:rPr>
                        <a:t>Baseline</a:t>
                      </a:r>
                    </a:p>
                  </a:txBody>
                  <a:tcPr marL="177994" marR="177994" marT="156067" marB="88996"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cap="none" spc="0" dirty="0">
                          <a:solidFill>
                            <a:schemeClr val="tx1"/>
                          </a:solidFill>
                        </a:rPr>
                        <a:t>–0.07</a:t>
                      </a:r>
                    </a:p>
                  </a:txBody>
                  <a:tcPr marL="177994" marR="177994" marT="156067" marB="88996"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cap="none" spc="0">
                          <a:solidFill>
                            <a:schemeClr val="tx1"/>
                          </a:solidFill>
                        </a:rPr>
                        <a:t>0.07</a:t>
                      </a:r>
                    </a:p>
                  </a:txBody>
                  <a:tcPr marL="177994" marR="177994" marT="156067" marB="88996"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816895021"/>
                  </a:ext>
                </a:extLst>
              </a:tr>
              <a:tr h="619624">
                <a:tc>
                  <a:txBody>
                    <a:bodyPr/>
                    <a:lstStyle/>
                    <a:p>
                      <a:pPr>
                        <a:buNone/>
                      </a:pPr>
                      <a:r>
                        <a:rPr lang="en-US" sz="2000" cap="none" spc="0">
                          <a:solidFill>
                            <a:schemeClr val="tx1"/>
                          </a:solidFill>
                        </a:rPr>
                        <a:t>Mid</a:t>
                      </a:r>
                    </a:p>
                  </a:txBody>
                  <a:tcPr marL="177994" marR="177994" marT="156067" marB="8899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cap="none" spc="0">
                          <a:solidFill>
                            <a:schemeClr val="tx1"/>
                          </a:solidFill>
                        </a:rPr>
                        <a:t>0.04</a:t>
                      </a:r>
                    </a:p>
                  </a:txBody>
                  <a:tcPr marL="177994" marR="177994" marT="156067" marB="8899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cap="none" spc="0">
                          <a:solidFill>
                            <a:schemeClr val="tx1"/>
                          </a:solidFill>
                        </a:rPr>
                        <a:t>–0.01</a:t>
                      </a:r>
                    </a:p>
                  </a:txBody>
                  <a:tcPr marL="177994" marR="177994" marT="156067" marB="8899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227954970"/>
                  </a:ext>
                </a:extLst>
              </a:tr>
              <a:tr h="619624">
                <a:tc>
                  <a:txBody>
                    <a:bodyPr/>
                    <a:lstStyle/>
                    <a:p>
                      <a:pPr>
                        <a:buNone/>
                      </a:pPr>
                      <a:r>
                        <a:rPr lang="en-US" sz="2000" cap="none" spc="0">
                          <a:solidFill>
                            <a:schemeClr val="tx1"/>
                          </a:solidFill>
                        </a:rPr>
                        <a:t>Post</a:t>
                      </a:r>
                    </a:p>
                  </a:txBody>
                  <a:tcPr marL="177994" marR="177994" marT="156067" marB="8899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b="1" cap="none" spc="0">
                          <a:solidFill>
                            <a:schemeClr val="tx1"/>
                          </a:solidFill>
                        </a:rPr>
                        <a:t>0.26</a:t>
                      </a:r>
                      <a:endParaRPr lang="en-US" sz="2000" cap="none" spc="0">
                        <a:solidFill>
                          <a:schemeClr val="tx1"/>
                        </a:solidFill>
                      </a:endParaRPr>
                    </a:p>
                  </a:txBody>
                  <a:tcPr marL="177994" marR="177994" marT="156067" marB="8899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2000" b="1" cap="none" spc="0">
                          <a:solidFill>
                            <a:schemeClr val="tx1"/>
                          </a:solidFill>
                        </a:rPr>
                        <a:t>–0.17</a:t>
                      </a:r>
                      <a:endParaRPr lang="en-US" sz="2000" cap="none" spc="0">
                        <a:solidFill>
                          <a:schemeClr val="tx1"/>
                        </a:solidFill>
                      </a:endParaRPr>
                    </a:p>
                  </a:txBody>
                  <a:tcPr marL="177994" marR="177994" marT="156067" marB="88996"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2906461090"/>
                  </a:ext>
                </a:extLst>
              </a:tr>
              <a:tr h="619624">
                <a:tc>
                  <a:txBody>
                    <a:bodyPr/>
                    <a:lstStyle/>
                    <a:p>
                      <a:pPr>
                        <a:buNone/>
                      </a:pPr>
                      <a:r>
                        <a:rPr lang="en-US" sz="2000" cap="none" spc="0">
                          <a:solidFill>
                            <a:schemeClr val="tx1"/>
                          </a:solidFill>
                        </a:rPr>
                        <a:t>Maintenance</a:t>
                      </a:r>
                    </a:p>
                  </a:txBody>
                  <a:tcPr marL="177994" marR="177994" marT="156067" marB="88996"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tc>
                  <a:txBody>
                    <a:bodyPr/>
                    <a:lstStyle/>
                    <a:p>
                      <a:pPr>
                        <a:buNone/>
                      </a:pPr>
                      <a:r>
                        <a:rPr lang="en-US" sz="2000" b="1" cap="none" spc="0">
                          <a:solidFill>
                            <a:schemeClr val="tx1"/>
                          </a:solidFill>
                        </a:rPr>
                        <a:t>0.37</a:t>
                      </a:r>
                      <a:endParaRPr lang="en-US" sz="2000" cap="none" spc="0">
                        <a:solidFill>
                          <a:schemeClr val="tx1"/>
                        </a:solidFill>
                      </a:endParaRPr>
                    </a:p>
                  </a:txBody>
                  <a:tcPr marL="177994" marR="177994" marT="156067" marB="88996"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tc>
                  <a:txBody>
                    <a:bodyPr/>
                    <a:lstStyle/>
                    <a:p>
                      <a:pPr>
                        <a:buNone/>
                      </a:pPr>
                      <a:r>
                        <a:rPr lang="en-US" sz="2000" b="1" cap="none" spc="0" dirty="0">
                          <a:solidFill>
                            <a:schemeClr val="tx1"/>
                          </a:solidFill>
                        </a:rPr>
                        <a:t>–0.25</a:t>
                      </a:r>
                      <a:endParaRPr lang="en-US" sz="2000" cap="none" spc="0" dirty="0">
                        <a:solidFill>
                          <a:schemeClr val="tx1"/>
                        </a:solidFill>
                      </a:endParaRPr>
                    </a:p>
                  </a:txBody>
                  <a:tcPr marL="177994" marR="177994" marT="156067" marB="88996"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95832148"/>
                  </a:ext>
                </a:extLst>
              </a:tr>
            </a:tbl>
          </a:graphicData>
        </a:graphic>
      </p:graphicFrame>
    </p:spTree>
    <p:extLst>
      <p:ext uri="{BB962C8B-B14F-4D97-AF65-F5344CB8AC3E}">
        <p14:creationId xmlns:p14="http://schemas.microsoft.com/office/powerpoint/2010/main" val="3185106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72F0B3-7031-93CE-31A0-54315665EA3C}"/>
              </a:ext>
            </a:extLst>
          </p:cNvPr>
          <p:cNvSpPr>
            <a:spLocks noGrp="1"/>
          </p:cNvSpPr>
          <p:nvPr>
            <p:ph type="title"/>
          </p:nvPr>
        </p:nvSpPr>
        <p:spPr>
          <a:xfrm>
            <a:off x="630935" y="639520"/>
            <a:ext cx="3773639" cy="1719072"/>
          </a:xfrm>
        </p:spPr>
        <p:txBody>
          <a:bodyPr anchor="b">
            <a:noAutofit/>
          </a:bodyPr>
          <a:lstStyle/>
          <a:p>
            <a:r>
              <a:rPr lang="en-US" sz="3500" dirty="0"/>
              <a:t>Change in On-Task and Disruptive Behavior Over Time</a:t>
            </a:r>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19234C49-EDD2-BDD9-FADB-90F31302B94C}"/>
              </a:ext>
            </a:extLst>
          </p:cNvPr>
          <p:cNvSpPr>
            <a:spLocks noGrp="1"/>
          </p:cNvSpPr>
          <p:nvPr>
            <p:ph idx="1"/>
          </p:nvPr>
        </p:nvSpPr>
        <p:spPr>
          <a:xfrm>
            <a:off x="630936" y="2807208"/>
            <a:ext cx="3429000" cy="3410712"/>
          </a:xfrm>
        </p:spPr>
        <p:txBody>
          <a:bodyPr anchor="t">
            <a:normAutofit fontScale="77500" lnSpcReduction="20000"/>
          </a:bodyPr>
          <a:lstStyle/>
          <a:p>
            <a:r>
              <a:rPr lang="en-US" sz="2400" dirty="0"/>
              <a:t>CICO students became more on-task and less disruptive across phases</a:t>
            </a:r>
          </a:p>
          <a:p>
            <a:r>
              <a:rPr lang="en-US" sz="2400" dirty="0"/>
              <a:t>BAU students showed little or no change over time</a:t>
            </a:r>
          </a:p>
          <a:p>
            <a:r>
              <a:rPr lang="en-US" sz="2400" dirty="0"/>
              <a:t>Group differences became most pronounced by Post and Maintenance phases</a:t>
            </a:r>
          </a:p>
          <a:p>
            <a:r>
              <a:rPr lang="en-US" sz="2400" dirty="0"/>
              <a:t>For on-task behavior, CIs showed minimal overlap at Post and no overlap at Maintenance, indicating a statistically significant difference</a:t>
            </a:r>
          </a:p>
        </p:txBody>
      </p:sp>
      <p:pic>
        <p:nvPicPr>
          <p:cNvPr id="5" name="Content Placeholder 4" descr="A graph of a diagram&#10;&#10;AI-generated content may be incorrect.">
            <a:extLst>
              <a:ext uri="{FF2B5EF4-FFF2-40B4-BE49-F238E27FC236}">
                <a16:creationId xmlns:a16="http://schemas.microsoft.com/office/drawing/2014/main" id="{5FCBB89B-6D4C-1317-F9B3-2F6DC3DBDA9E}"/>
              </a:ext>
            </a:extLst>
          </p:cNvPr>
          <p:cNvPicPr>
            <a:picLocks noChangeAspect="1"/>
          </p:cNvPicPr>
          <p:nvPr/>
        </p:nvPicPr>
        <p:blipFill>
          <a:blip r:embed="rId3"/>
          <a:stretch>
            <a:fillRect/>
          </a:stretch>
        </p:blipFill>
        <p:spPr>
          <a:xfrm>
            <a:off x="4654296" y="1237069"/>
            <a:ext cx="6903720" cy="4383861"/>
          </a:xfrm>
          <a:prstGeom prst="rect">
            <a:avLst/>
          </a:prstGeom>
        </p:spPr>
      </p:pic>
    </p:spTree>
    <p:extLst>
      <p:ext uri="{BB962C8B-B14F-4D97-AF65-F5344CB8AC3E}">
        <p14:creationId xmlns:p14="http://schemas.microsoft.com/office/powerpoint/2010/main" val="1568585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64FAB5-1D4F-C875-2107-E55304FF50CC}"/>
              </a:ext>
            </a:extLst>
          </p:cNvPr>
          <p:cNvSpPr>
            <a:spLocks noGrp="1"/>
          </p:cNvSpPr>
          <p:nvPr>
            <p:ph type="title"/>
          </p:nvPr>
        </p:nvSpPr>
        <p:spPr>
          <a:xfrm>
            <a:off x="838200" y="365125"/>
            <a:ext cx="10515600" cy="1325563"/>
          </a:xfrm>
        </p:spPr>
        <p:txBody>
          <a:bodyPr>
            <a:normAutofit/>
          </a:bodyPr>
          <a:lstStyle/>
          <a:p>
            <a:r>
              <a:rPr lang="en-US" sz="5400"/>
              <a:t>RQ2: BASC-3 Preliminary Checks</a:t>
            </a:r>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E0034C8-B38B-7C78-B602-7FC31F180485}"/>
              </a:ext>
            </a:extLst>
          </p:cNvPr>
          <p:cNvSpPr>
            <a:spLocks noGrp="1"/>
          </p:cNvSpPr>
          <p:nvPr>
            <p:ph idx="1"/>
          </p:nvPr>
        </p:nvSpPr>
        <p:spPr>
          <a:xfrm>
            <a:off x="838200" y="1929384"/>
            <a:ext cx="10515600" cy="4251960"/>
          </a:xfrm>
        </p:spPr>
        <p:txBody>
          <a:bodyPr>
            <a:normAutofit/>
          </a:bodyPr>
          <a:lstStyle/>
          <a:p>
            <a:pPr marL="0" indent="0">
              <a:buNone/>
            </a:pPr>
            <a:r>
              <a:rPr lang="en-US" sz="2200" b="1" dirty="0"/>
              <a:t>Baseline Equivalence:</a:t>
            </a:r>
            <a:r>
              <a:rPr lang="en-US" sz="2200" dirty="0"/>
              <a:t> Small differences </a:t>
            </a:r>
            <a:r>
              <a:rPr lang="en-US" sz="2200" i="1" dirty="0"/>
              <a:t>(g = –0.02 to –0.16)</a:t>
            </a:r>
          </a:p>
          <a:p>
            <a:pPr marL="0" indent="0">
              <a:buNone/>
            </a:pPr>
            <a:br>
              <a:rPr lang="en-US" sz="2200" dirty="0"/>
            </a:br>
            <a:r>
              <a:rPr lang="en-US" sz="2200" b="1" dirty="0"/>
              <a:t>Attrition:</a:t>
            </a:r>
            <a:r>
              <a:rPr lang="en-US" sz="2200" dirty="0"/>
              <a:t> Low (~6.6%) and balanced (p = .94)</a:t>
            </a:r>
          </a:p>
          <a:p>
            <a:pPr marL="0" indent="0">
              <a:buNone/>
            </a:pPr>
            <a:br>
              <a:rPr lang="en-US" sz="2200" dirty="0"/>
            </a:br>
            <a:r>
              <a:rPr lang="en-US" sz="2200" b="1" dirty="0"/>
              <a:t>ICCs:</a:t>
            </a:r>
            <a:endParaRPr lang="en-US" sz="2200" dirty="0"/>
          </a:p>
          <a:p>
            <a:r>
              <a:rPr lang="en-US" sz="2200" dirty="0"/>
              <a:t>Externalizing = .43</a:t>
            </a:r>
          </a:p>
          <a:p>
            <a:r>
              <a:rPr lang="en-US" sz="2200" dirty="0"/>
              <a:t>Internalizing = .47</a:t>
            </a:r>
          </a:p>
          <a:p>
            <a:r>
              <a:rPr lang="en-US" sz="2200" dirty="0"/>
              <a:t>Adaptive Skills = .32</a:t>
            </a:r>
          </a:p>
          <a:p>
            <a:r>
              <a:rPr lang="en-US" sz="2200" dirty="0"/>
              <a:t>School Problems ≈ 0</a:t>
            </a:r>
          </a:p>
          <a:p>
            <a:pPr marL="0" indent="0">
              <a:buNone/>
            </a:pPr>
            <a:r>
              <a:rPr lang="en-US" sz="2200" dirty="0"/>
              <a:t>→ Supports two-level ANCOVA (students in classrooms)</a:t>
            </a:r>
          </a:p>
          <a:p>
            <a:endParaRPr lang="en-US" sz="2200" dirty="0"/>
          </a:p>
        </p:txBody>
      </p:sp>
    </p:spTree>
    <p:extLst>
      <p:ext uri="{BB962C8B-B14F-4D97-AF65-F5344CB8AC3E}">
        <p14:creationId xmlns:p14="http://schemas.microsoft.com/office/powerpoint/2010/main" val="1928780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32F7D3-53EA-382A-D8CF-E6C8EE5EAF45}"/>
              </a:ext>
            </a:extLst>
          </p:cNvPr>
          <p:cNvSpPr>
            <a:spLocks noGrp="1"/>
          </p:cNvSpPr>
          <p:nvPr>
            <p:ph type="title"/>
          </p:nvPr>
        </p:nvSpPr>
        <p:spPr>
          <a:xfrm>
            <a:off x="838200" y="365125"/>
            <a:ext cx="10515600" cy="1325563"/>
          </a:xfrm>
        </p:spPr>
        <p:txBody>
          <a:bodyPr vert="horz" lIns="91440" tIns="45720" rIns="91440" bIns="45720" rtlCol="0">
            <a:normAutofit/>
          </a:bodyPr>
          <a:lstStyle/>
          <a:p>
            <a:r>
              <a:rPr lang="en-US" sz="5400" kern="1200" dirty="0">
                <a:latin typeface="+mj-lt"/>
                <a:ea typeface="+mj-ea"/>
                <a:cs typeface="+mj-cs"/>
              </a:rPr>
              <a:t>RQ2: Adjusted Posttest Means</a:t>
            </a:r>
          </a:p>
        </p:txBody>
      </p:sp>
      <p:sp>
        <p:nvSpPr>
          <p:cNvPr id="56"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5" name="Content Placeholder 18">
            <a:extLst>
              <a:ext uri="{FF2B5EF4-FFF2-40B4-BE49-F238E27FC236}">
                <a16:creationId xmlns:a16="http://schemas.microsoft.com/office/drawing/2014/main" id="{CDA2A65C-EA71-9461-A781-3E92ECF6AAFF}"/>
              </a:ext>
            </a:extLst>
          </p:cNvPr>
          <p:cNvGraphicFramePr>
            <a:graphicFrameLocks noGrp="1"/>
          </p:cNvGraphicFramePr>
          <p:nvPr>
            <p:ph idx="1"/>
            <p:extLst>
              <p:ext uri="{D42A27DB-BD31-4B8C-83A1-F6EECF244321}">
                <p14:modId xmlns:p14="http://schemas.microsoft.com/office/powerpoint/2010/main" val="1331552413"/>
              </p:ext>
            </p:extLst>
          </p:nvPr>
        </p:nvGraphicFramePr>
        <p:xfrm>
          <a:off x="943397" y="2228087"/>
          <a:ext cx="10305209" cy="3948878"/>
        </p:xfrm>
        <a:graphic>
          <a:graphicData uri="http://schemas.openxmlformats.org/drawingml/2006/table">
            <a:tbl>
              <a:tblPr firstRow="1" bandRow="1">
                <a:noFill/>
              </a:tblPr>
              <a:tblGrid>
                <a:gridCol w="2893725">
                  <a:extLst>
                    <a:ext uri="{9D8B030D-6E8A-4147-A177-3AD203B41FA5}">
                      <a16:colId xmlns:a16="http://schemas.microsoft.com/office/drawing/2014/main" val="2721753216"/>
                    </a:ext>
                  </a:extLst>
                </a:gridCol>
                <a:gridCol w="1590675">
                  <a:extLst>
                    <a:ext uri="{9D8B030D-6E8A-4147-A177-3AD203B41FA5}">
                      <a16:colId xmlns:a16="http://schemas.microsoft.com/office/drawing/2014/main" val="2255581969"/>
                    </a:ext>
                  </a:extLst>
                </a:gridCol>
                <a:gridCol w="1712721">
                  <a:extLst>
                    <a:ext uri="{9D8B030D-6E8A-4147-A177-3AD203B41FA5}">
                      <a16:colId xmlns:a16="http://schemas.microsoft.com/office/drawing/2014/main" val="3636253700"/>
                    </a:ext>
                  </a:extLst>
                </a:gridCol>
                <a:gridCol w="1541042">
                  <a:extLst>
                    <a:ext uri="{9D8B030D-6E8A-4147-A177-3AD203B41FA5}">
                      <a16:colId xmlns:a16="http://schemas.microsoft.com/office/drawing/2014/main" val="3598462084"/>
                    </a:ext>
                  </a:extLst>
                </a:gridCol>
                <a:gridCol w="2567046">
                  <a:extLst>
                    <a:ext uri="{9D8B030D-6E8A-4147-A177-3AD203B41FA5}">
                      <a16:colId xmlns:a16="http://schemas.microsoft.com/office/drawing/2014/main" val="2369312367"/>
                    </a:ext>
                  </a:extLst>
                </a:gridCol>
              </a:tblGrid>
              <a:tr h="908330">
                <a:tc>
                  <a:txBody>
                    <a:bodyPr/>
                    <a:lstStyle/>
                    <a:p>
                      <a:pPr>
                        <a:buNone/>
                      </a:pPr>
                      <a:r>
                        <a:rPr lang="en-US" sz="2800" b="1" cap="none" spc="0">
                          <a:solidFill>
                            <a:schemeClr val="tx1">
                              <a:lumMod val="75000"/>
                              <a:lumOff val="25000"/>
                            </a:schemeClr>
                          </a:solidFill>
                        </a:rPr>
                        <a:t>Scale</a:t>
                      </a:r>
                    </a:p>
                  </a:txBody>
                  <a:tcPr marL="366140" marR="219684" marT="219684" marB="219684"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n-US" sz="2800" b="1" cap="none" spc="0">
                          <a:solidFill>
                            <a:schemeClr val="tx1">
                              <a:lumMod val="75000"/>
                              <a:lumOff val="25000"/>
                            </a:schemeClr>
                          </a:solidFill>
                        </a:rPr>
                        <a:t>BAU</a:t>
                      </a:r>
                    </a:p>
                  </a:txBody>
                  <a:tcPr marL="366140" marR="219684" marT="219684" marB="219684"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n-US" sz="2800" b="1" cap="none" spc="0">
                          <a:solidFill>
                            <a:schemeClr val="tx1">
                              <a:lumMod val="75000"/>
                              <a:lumOff val="25000"/>
                            </a:schemeClr>
                          </a:solidFill>
                        </a:rPr>
                        <a:t>CICO</a:t>
                      </a:r>
                    </a:p>
                  </a:txBody>
                  <a:tcPr marL="366140" marR="219684" marT="219684" marB="219684"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n-US" sz="2800" b="1" cap="none" spc="0">
                          <a:solidFill>
                            <a:schemeClr val="tx1">
                              <a:lumMod val="75000"/>
                              <a:lumOff val="25000"/>
                            </a:schemeClr>
                          </a:solidFill>
                        </a:rPr>
                        <a:t>p</a:t>
                      </a:r>
                    </a:p>
                  </a:txBody>
                  <a:tcPr marL="366140" marR="219684" marT="219684" marB="219684"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buNone/>
                      </a:pPr>
                      <a:r>
                        <a:rPr lang="en-US" sz="2800" b="1" cap="none" spc="0">
                          <a:solidFill>
                            <a:schemeClr val="tx1">
                              <a:lumMod val="75000"/>
                              <a:lumOff val="25000"/>
                            </a:schemeClr>
                          </a:solidFill>
                        </a:rPr>
                        <a:t>Cohen’s d</a:t>
                      </a:r>
                    </a:p>
                  </a:txBody>
                  <a:tcPr marL="366140" marR="219684" marT="219684" marB="219684"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3956065409"/>
                  </a:ext>
                </a:extLst>
              </a:tr>
              <a:tr h="760137">
                <a:tc>
                  <a:txBody>
                    <a:bodyPr/>
                    <a:lstStyle/>
                    <a:p>
                      <a:pPr>
                        <a:buNone/>
                      </a:pPr>
                      <a:r>
                        <a:rPr lang="en-US" sz="2300" cap="none" spc="0">
                          <a:solidFill>
                            <a:schemeClr val="tx1">
                              <a:lumMod val="75000"/>
                              <a:lumOff val="25000"/>
                            </a:schemeClr>
                          </a:solidFill>
                        </a:rPr>
                        <a:t>Externalizing</a:t>
                      </a:r>
                    </a:p>
                  </a:txBody>
                  <a:tcPr marL="366140" marR="190393" marT="190393" marB="190393"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68.1</a:t>
                      </a:r>
                    </a:p>
                  </a:txBody>
                  <a:tcPr marL="366140" marR="190393" marT="190393" marB="190393"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62.7</a:t>
                      </a:r>
                    </a:p>
                  </a:txBody>
                  <a:tcPr marL="366140" marR="190393" marT="190393" marB="190393"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&lt; .001</a:t>
                      </a:r>
                    </a:p>
                  </a:txBody>
                  <a:tcPr marL="366140" marR="190393" marT="190393" marB="190393"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–0.46</a:t>
                      </a:r>
                    </a:p>
                  </a:txBody>
                  <a:tcPr marL="366140" marR="190393" marT="190393" marB="190393"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419796079"/>
                  </a:ext>
                </a:extLst>
              </a:tr>
              <a:tr h="760137">
                <a:tc>
                  <a:txBody>
                    <a:bodyPr/>
                    <a:lstStyle/>
                    <a:p>
                      <a:pPr>
                        <a:buNone/>
                      </a:pPr>
                      <a:r>
                        <a:rPr lang="en-US" sz="2300" cap="none" spc="0">
                          <a:solidFill>
                            <a:schemeClr val="tx1">
                              <a:lumMod val="75000"/>
                              <a:lumOff val="25000"/>
                            </a:schemeClr>
                          </a:solidFill>
                        </a:rPr>
                        <a:t>Internalizing</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59.7</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55.8</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.006</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–0.27</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220102429"/>
                  </a:ext>
                </a:extLst>
              </a:tr>
              <a:tr h="760137">
                <a:tc>
                  <a:txBody>
                    <a:bodyPr/>
                    <a:lstStyle/>
                    <a:p>
                      <a:pPr>
                        <a:buNone/>
                      </a:pPr>
                      <a:r>
                        <a:rPr lang="en-US" sz="2300" cap="none" spc="0">
                          <a:solidFill>
                            <a:schemeClr val="tx1">
                              <a:lumMod val="75000"/>
                              <a:lumOff val="25000"/>
                            </a:schemeClr>
                          </a:solidFill>
                        </a:rPr>
                        <a:t>School Problems</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61.8</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58.6</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&lt; .001</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–0.35</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139572304"/>
                  </a:ext>
                </a:extLst>
              </a:tr>
              <a:tr h="760137">
                <a:tc>
                  <a:txBody>
                    <a:bodyPr/>
                    <a:lstStyle/>
                    <a:p>
                      <a:pPr>
                        <a:buNone/>
                      </a:pPr>
                      <a:r>
                        <a:rPr lang="en-US" sz="2300" cap="none" spc="0">
                          <a:solidFill>
                            <a:schemeClr val="tx1">
                              <a:lumMod val="75000"/>
                              <a:lumOff val="25000"/>
                            </a:schemeClr>
                          </a:solidFill>
                        </a:rPr>
                        <a:t>Adaptive Skills</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45.5</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42.9</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.001</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300" cap="none" spc="0">
                          <a:solidFill>
                            <a:schemeClr val="tx1">
                              <a:lumMod val="75000"/>
                              <a:lumOff val="25000"/>
                            </a:schemeClr>
                          </a:solidFill>
                        </a:rPr>
                        <a:t>–0.38</a:t>
                      </a:r>
                    </a:p>
                  </a:txBody>
                  <a:tcPr marL="366140" marR="190393" marT="190393" marB="19039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468034664"/>
                  </a:ext>
                </a:extLst>
              </a:tr>
            </a:tbl>
          </a:graphicData>
        </a:graphic>
      </p:graphicFrame>
    </p:spTree>
    <p:extLst>
      <p:ext uri="{BB962C8B-B14F-4D97-AF65-F5344CB8AC3E}">
        <p14:creationId xmlns:p14="http://schemas.microsoft.com/office/powerpoint/2010/main" val="3141498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C8122B-99A3-682C-73E7-451C569F0C69}"/>
              </a:ext>
            </a:extLst>
          </p:cNvPr>
          <p:cNvSpPr>
            <a:spLocks noGrp="1"/>
          </p:cNvSpPr>
          <p:nvPr>
            <p:ph type="title"/>
          </p:nvPr>
        </p:nvSpPr>
        <p:spPr>
          <a:xfrm>
            <a:off x="838200" y="365125"/>
            <a:ext cx="10515600" cy="1325563"/>
          </a:xfrm>
        </p:spPr>
        <p:txBody>
          <a:bodyPr>
            <a:normAutofit/>
          </a:bodyPr>
          <a:lstStyle/>
          <a:p>
            <a:r>
              <a:rPr lang="en-US" sz="5400"/>
              <a:t>RQ2: Interpretation</a:t>
            </a:r>
          </a:p>
        </p:txBody>
      </p:sp>
      <p:sp>
        <p:nvSpPr>
          <p:cNvPr id="2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DC3834D-3EBA-DB69-DAED-CF0C28B7B5D0}"/>
              </a:ext>
            </a:extLst>
          </p:cNvPr>
          <p:cNvSpPr>
            <a:spLocks noGrp="1"/>
          </p:cNvSpPr>
          <p:nvPr>
            <p:ph idx="1"/>
          </p:nvPr>
        </p:nvSpPr>
        <p:spPr>
          <a:xfrm>
            <a:off x="838200" y="1929384"/>
            <a:ext cx="10515600" cy="4251960"/>
          </a:xfrm>
        </p:spPr>
        <p:txBody>
          <a:bodyPr>
            <a:normAutofit/>
          </a:bodyPr>
          <a:lstStyle/>
          <a:p>
            <a:r>
              <a:rPr lang="en-US" sz="2200" dirty="0"/>
              <a:t>CICO students showed </a:t>
            </a:r>
            <a:r>
              <a:rPr lang="en-US" sz="2200" b="1" dirty="0"/>
              <a:t>lower</a:t>
            </a:r>
            <a:r>
              <a:rPr lang="en-US" sz="2200" dirty="0"/>
              <a:t> externalizing, internalizing, and school problem scores</a:t>
            </a:r>
          </a:p>
          <a:p>
            <a:r>
              <a:rPr lang="en-US" sz="2200" dirty="0"/>
              <a:t>Adaptive Skills were also </a:t>
            </a:r>
            <a:r>
              <a:rPr lang="en-US" sz="2200" b="1" dirty="0"/>
              <a:t>lower</a:t>
            </a:r>
            <a:r>
              <a:rPr lang="en-US" sz="2200" dirty="0"/>
              <a:t>, which needs contextual discussion (lower ≠ better)</a:t>
            </a:r>
          </a:p>
          <a:p>
            <a:r>
              <a:rPr lang="en-US" sz="2200" dirty="0"/>
              <a:t>ICCs (0.23–0.33) confirmed moderate classroom clustering</a:t>
            </a:r>
          </a:p>
          <a:p>
            <a:r>
              <a:rPr lang="en-US" sz="2200" dirty="0"/>
              <a:t>School Problems ICC ≈ 0 explained singularity warnings (negligible classroom variance)</a:t>
            </a:r>
          </a:p>
          <a:p>
            <a:endParaRPr lang="en-US" sz="2200" dirty="0"/>
          </a:p>
        </p:txBody>
      </p:sp>
    </p:spTree>
    <p:extLst>
      <p:ext uri="{BB962C8B-B14F-4D97-AF65-F5344CB8AC3E}">
        <p14:creationId xmlns:p14="http://schemas.microsoft.com/office/powerpoint/2010/main" val="4284256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A8C9A1-9FC1-3973-282F-257AF66B9668}"/>
              </a:ext>
            </a:extLst>
          </p:cNvPr>
          <p:cNvSpPr>
            <a:spLocks noGrp="1"/>
          </p:cNvSpPr>
          <p:nvPr>
            <p:ph type="title"/>
          </p:nvPr>
        </p:nvSpPr>
        <p:spPr>
          <a:xfrm>
            <a:off x="841248" y="548640"/>
            <a:ext cx="3600860" cy="5431536"/>
          </a:xfrm>
        </p:spPr>
        <p:txBody>
          <a:bodyPr>
            <a:normAutofit/>
          </a:bodyPr>
          <a:lstStyle/>
          <a:p>
            <a:r>
              <a:rPr lang="en-US" sz="5400" dirty="0"/>
              <a:t>Key Takeaways</a:t>
            </a:r>
          </a:p>
        </p:txBody>
      </p:sp>
      <p:sp>
        <p:nvSpPr>
          <p:cNvPr id="19"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62A8E5-4469-7095-C9FC-DD88B4273951}"/>
              </a:ext>
            </a:extLst>
          </p:cNvPr>
          <p:cNvSpPr>
            <a:spLocks noGrp="1"/>
          </p:cNvSpPr>
          <p:nvPr>
            <p:ph idx="1"/>
          </p:nvPr>
        </p:nvSpPr>
        <p:spPr>
          <a:xfrm>
            <a:off x="5126418" y="552091"/>
            <a:ext cx="6224335" cy="5431536"/>
          </a:xfrm>
        </p:spPr>
        <p:txBody>
          <a:bodyPr anchor="ctr">
            <a:normAutofit/>
          </a:bodyPr>
          <a:lstStyle/>
          <a:p>
            <a:r>
              <a:rPr lang="en-US" sz="2200" dirty="0"/>
              <a:t>CICO students were </a:t>
            </a:r>
            <a:r>
              <a:rPr lang="en-US" sz="2200" b="1" dirty="0"/>
              <a:t>more on-task</a:t>
            </a:r>
            <a:r>
              <a:rPr lang="en-US" sz="2200" dirty="0"/>
              <a:t> and </a:t>
            </a:r>
            <a:r>
              <a:rPr lang="en-US" sz="2200" b="1" dirty="0"/>
              <a:t>less disruptive</a:t>
            </a:r>
            <a:r>
              <a:rPr lang="en-US" sz="2200" dirty="0"/>
              <a:t> by posttest</a:t>
            </a:r>
          </a:p>
          <a:p>
            <a:r>
              <a:rPr lang="en-US" sz="2200" dirty="0"/>
              <a:t>Effects persisted or grew during maintenance</a:t>
            </a:r>
          </a:p>
          <a:p>
            <a:r>
              <a:rPr lang="en-US" sz="2200" dirty="0"/>
              <a:t>Teacher-reported behavior (BASC-3) also improved significantly</a:t>
            </a:r>
          </a:p>
          <a:p>
            <a:r>
              <a:rPr lang="en-US" sz="2200" dirty="0"/>
              <a:t>Models supported fixed school effects and multilevel structure</a:t>
            </a:r>
          </a:p>
        </p:txBody>
      </p:sp>
    </p:spTree>
    <p:extLst>
      <p:ext uri="{BB962C8B-B14F-4D97-AF65-F5344CB8AC3E}">
        <p14:creationId xmlns:p14="http://schemas.microsoft.com/office/powerpoint/2010/main" val="173959703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1419</TotalTime>
  <Words>2068</Words>
  <Application>Microsoft Macintosh PowerPoint</Application>
  <PresentationFormat>Widescreen</PresentationFormat>
  <Paragraphs>155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Calibri Light</vt:lpstr>
      <vt:lpstr>Office 2013 - 2022 Theme</vt:lpstr>
      <vt:lpstr>Check-In/Check-Out (CICO)  Data Analysis  Juliana Levchenko, Ph.D.  School Mental Health Collaborative November 2025</vt:lpstr>
      <vt:lpstr>Project Overview</vt:lpstr>
      <vt:lpstr>Data Sources &amp; Outcomes</vt:lpstr>
      <vt:lpstr>Analysis Workflow</vt:lpstr>
      <vt:lpstr>Data Summary</vt:lpstr>
      <vt:lpstr>RQ1: Baseline &amp; ICCs</vt:lpstr>
      <vt:lpstr>RQ1: Multilevel Growth Results</vt:lpstr>
      <vt:lpstr>RQ1: Standardized Effects by Phase</vt:lpstr>
      <vt:lpstr>Change in On-Task and Disruptive Behavior Over Time</vt:lpstr>
      <vt:lpstr>RQ2: BASC-3 Preliminary Checks</vt:lpstr>
      <vt:lpstr>RQ2: Adjusted Posttest Means</vt:lpstr>
      <vt:lpstr>RQ2: Interpretation</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Juliana Levchenko</dc:creator>
  <cp:lastModifiedBy>Juliana Levchenko</cp:lastModifiedBy>
  <cp:revision>1</cp:revision>
  <dcterms:created xsi:type="dcterms:W3CDTF">2025-11-05T19:34:15Z</dcterms:created>
  <dcterms:modified xsi:type="dcterms:W3CDTF">2025-11-11T19:30:16Z</dcterms:modified>
</cp:coreProperties>
</file>